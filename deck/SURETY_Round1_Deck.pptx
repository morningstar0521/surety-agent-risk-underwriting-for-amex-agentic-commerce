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in this theme will show you a fence: permissions, dashboards, kill switches. We don't just build a fence. We underwrite the risk. SURETY is the actuarial layer that makes Amex's agentic commerce insurable.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14 April 2026 Amex made the boldest promise in agentic commerce: the ACE Developer Kit opened agent-initiated purchasing, and Agent Purchase Protection committed to cover Card Members when a registered agent errs. That promise is strategically powerful and actuarially incomplete. The strategic gap is not payment execution, it is underwriting the risk of autonomous transactions and preserving evidence when agent behaviour deviates from authenticated intent. Without infrastructure to price risk, cap exposure and assemble evidence, every agent transaction is an open-ended liability. That is the gap we close.
[Sources]
- American Express Newsroom, ACE Developer Kit and Agent Purchase Protection announcement, 14 Apr 2026: https://www.americanexpress.com/en-us/newsroom/articles/innovation/american-express-debuts-agentic-commerce-experiences--ace--devel.html
- Mastercard / Datos Insights, 2025 Global Chargebacks Outlook, global chargebacks forecast to reach 324M annually by 2028: https://www.mastercard.com/global/en/news-and-trends/Insights/2025/2025-global-chargebacks-outlook.html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SURETY treats every agent the way an underwriter treats a policyholder. Its behaviour earns it a risk score; the score sets its exposure limits and permissions in real time; and when it breaks its terms, SURETY doesn't just stop it, it files the evidence. Governance becomes an insurability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Member asked for headphones under twenty-five thousand; the agent paid forty-two. This is the actual console view. SURETY catches the intent deviation mid-flight, declines the transaction, tightens that agent's limits, triggers Agent Purchase Protection and hands Amex a ready-to-file Claims Package. The Claims Package is the investigation engine: it turns the protection promise into closed-loop, evidence-backed resolution. Two point three seconds, instruction to filed claim. Conceptually, a manual investigation pulls seven to fourteen evidence sources over several days. SURETY produces one Claims Package in two point three seconds. This is not a dashboard. It is a resolved claim, before the Card Member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system can say no. SURETY says no and shows exactly what would have changed the answer. We show the actual risk score and the exact drivers: the score moved from 0.42 to 0.78 against a decline threshold of 0.65, with intent deviation contributing 0.20, amount anomaly 0.10 and merchant entropy 0.06. The counterfactual proves it is not arbitrary: at twenty-three thousand rupees the same agent would be approved at Silver tier. That proves the model is not a black box. It builds trust with regulators, Card Members and merchants, and trust is the only currency that matters in underwriting.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task the judges asked for is addressed explicitly: permissions, dynamic caps, revocation, dashboard, testing. The right-hand column is the commitment: each one is demonstrated live, not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enforcement path is stateless and cached, and it is designed to target sub-ten-millisecond policy decisions at ten-thousand-agent scale. The agent action feed ingests ACE intent intelligence and cart context, so the model scores against what the Card Member actually asked for. The audit trail is hash-chained: tamper with one record and the chain breaks, provably. Every component is standard and realistic for the Round 2 prototype.
[Sources]
- Open Policy Agent documentation: https://www.openpolicyagent.org/docs
- NIST AI Risk Management Framework: https://www.nist.gov/itl/ai-risk-management-framework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directly to the agentic commerce strategy Amex has already announced. SURETY helps make Agent Purchase Protection sustainable by capping and explaining exposure, cuts claims cost with pre-assembled reason-code-aligned evidence, and creates a developer-facing trust tier. Developers who hold Gold-tier scores for ninety days earn a SURETY Certified badge, which unlocks higher default limits and reduced checkout friction for them, and a recurring revenue stream for Amex. Compliance becomes competitive advantage. The Card Member still sees only the app: granular spend controls and a protected purchase. And this is a network moat, not a feature. Amex runs a closed loop, so it sees both sides of the transaction: the closed-loop network gives richer intent signals, richer signals give better underwriting, better underwriting gives faster claims, faster claims give more trusted agents, more trusted agents give more spend, and more spend gives more Amex revenue. An issuer or a processor alone cannot close that loop. Governance stops being a cost centre and becomes trust, sold as a product.
[Sources]
- American Express Agentic Commerce: https://www.americanexpress.com/en-us/company/agentic-commerce/
- American Express Chargeback Code Guide: https://www.americanexpress.com/content/dam/amex/au/en/merchant/static/chargebackcodeguide.pdf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not claim performance, we will measure it in front of you. This is the operator console: live exposure by tier, the latency distribution with the p99 marker, and audit-chain state. The simulated fleet includes planted rogue agents, so we report real precision and recall rather than a demo happy path. In the finale we edit an audit record live and the chain breaks on screen. That is auditability you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governance proposal builds a fence. SURETY builds the actuarial layer that decides how high each fence must be, prices the residual risk, and files the claim when it is breached. For Amex, the first network to underwrite autonomous transactions at scale does not just manage a risk, it owns a moat. We are building the credit score for AI agents. That is the moat. We would like to build it with you.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77256" y="1531620"/>
            <a:ext cx="1234440" cy="1234440"/>
          </a:xfrm>
          <a:prstGeom prst="ellipse">
            <a:avLst/>
          </a:prstGeom>
          <a:solidFill>
            <a:srgbClr val="0B1F3A">
              <a:alpha val="0"/>
            </a:srgbClr>
          </a:solidFill>
          <a:ln w="19050">
            <a:solidFill>
              <a:srgbClr val="C8A951"/>
            </a:solidFill>
            <a:prstDash val="solid"/>
          </a:ln>
        </p:spPr>
      </p:sp>
      <p:sp>
        <p:nvSpPr>
          <p:cNvPr id="3" name="Shape 1"/>
          <p:cNvSpPr/>
          <p:nvPr/>
        </p:nvSpPr>
        <p:spPr>
          <a:xfrm>
            <a:off x="5613044" y="1667408"/>
            <a:ext cx="962863" cy="962863"/>
          </a:xfrm>
          <a:prstGeom prst="ellipse">
            <a:avLst/>
          </a:prstGeom>
          <a:solidFill>
            <a:srgbClr val="0B1F3A">
              <a:alpha val="0"/>
            </a:srgbClr>
          </a:solidFill>
          <a:ln w="6350">
            <a:solidFill>
              <a:srgbClr val="C8A951"/>
            </a:solidFill>
            <a:prstDash val="solid"/>
          </a:ln>
        </p:spPr>
      </p:sp>
      <p:sp>
        <p:nvSpPr>
          <p:cNvPr id="4" name="Shape 2"/>
          <p:cNvSpPr/>
          <p:nvPr/>
        </p:nvSpPr>
        <p:spPr>
          <a:xfrm>
            <a:off x="5731066" y="1964556"/>
            <a:ext cx="55550" cy="55550"/>
          </a:xfrm>
          <a:prstGeom prst="ellipse">
            <a:avLst/>
          </a:prstGeom>
          <a:solidFill>
            <a:srgbClr val="016FD0"/>
          </a:solidFill>
          <a:ln w="12700">
            <a:solidFill>
              <a:srgbClr val="333333"/>
            </a:solidFill>
            <a:prstDash val="solid"/>
          </a:ln>
        </p:spPr>
      </p:sp>
      <p:sp>
        <p:nvSpPr>
          <p:cNvPr id="5" name="Shape 3"/>
          <p:cNvSpPr/>
          <p:nvPr/>
        </p:nvSpPr>
        <p:spPr>
          <a:xfrm>
            <a:off x="5867722" y="1808730"/>
            <a:ext cx="55550" cy="55550"/>
          </a:xfrm>
          <a:prstGeom prst="ellipse">
            <a:avLst/>
          </a:prstGeom>
          <a:solidFill>
            <a:srgbClr val="016FD0"/>
          </a:solidFill>
          <a:ln w="12700">
            <a:solidFill>
              <a:srgbClr val="333333"/>
            </a:solidFill>
            <a:prstDash val="solid"/>
          </a:ln>
        </p:spPr>
      </p:sp>
      <p:sp>
        <p:nvSpPr>
          <p:cNvPr id="6" name="Shape 4"/>
          <p:cNvSpPr/>
          <p:nvPr/>
        </p:nvSpPr>
        <p:spPr>
          <a:xfrm>
            <a:off x="6066701" y="1750733"/>
            <a:ext cx="55550" cy="55550"/>
          </a:xfrm>
          <a:prstGeom prst="ellipse">
            <a:avLst/>
          </a:prstGeom>
          <a:solidFill>
            <a:srgbClr val="016FD0"/>
          </a:solidFill>
          <a:ln w="12700">
            <a:solidFill>
              <a:srgbClr val="333333"/>
            </a:solidFill>
            <a:prstDash val="solid"/>
          </a:ln>
        </p:spPr>
      </p:sp>
      <p:sp>
        <p:nvSpPr>
          <p:cNvPr id="7" name="Shape 5"/>
          <p:cNvSpPr/>
          <p:nvPr/>
        </p:nvSpPr>
        <p:spPr>
          <a:xfrm>
            <a:off x="6265680" y="1808730"/>
            <a:ext cx="55550" cy="55550"/>
          </a:xfrm>
          <a:prstGeom prst="ellipse">
            <a:avLst/>
          </a:prstGeom>
          <a:solidFill>
            <a:srgbClr val="016FD0"/>
          </a:solidFill>
          <a:ln w="12700">
            <a:solidFill>
              <a:srgbClr val="333333"/>
            </a:solidFill>
            <a:prstDash val="solid"/>
          </a:ln>
        </p:spPr>
      </p:sp>
      <p:sp>
        <p:nvSpPr>
          <p:cNvPr id="8" name="Shape 6"/>
          <p:cNvSpPr/>
          <p:nvPr/>
        </p:nvSpPr>
        <p:spPr>
          <a:xfrm>
            <a:off x="6402336" y="1964556"/>
            <a:ext cx="55550" cy="55550"/>
          </a:xfrm>
          <a:prstGeom prst="ellipse">
            <a:avLst/>
          </a:prstGeom>
          <a:solidFill>
            <a:srgbClr val="C8A951"/>
          </a:solidFill>
          <a:ln w="12700">
            <a:solidFill>
              <a:srgbClr val="333333"/>
            </a:solidFill>
            <a:prstDash val="solid"/>
          </a:ln>
        </p:spPr>
      </p:sp>
      <p:sp>
        <p:nvSpPr>
          <p:cNvPr id="9" name="Shape 7"/>
          <p:cNvSpPr/>
          <p:nvPr/>
        </p:nvSpPr>
        <p:spPr>
          <a:xfrm flipV="1">
            <a:off x="6094476" y="1914296"/>
            <a:ext cx="234544" cy="234544"/>
          </a:xfrm>
          <a:prstGeom prst="line">
            <a:avLst/>
          </a:prstGeom>
          <a:noFill/>
          <a:ln w="22225">
            <a:solidFill>
              <a:srgbClr val="C8A951"/>
            </a:solidFill>
            <a:prstDash val="solid"/>
          </a:ln>
        </p:spPr>
      </p:sp>
      <p:sp>
        <p:nvSpPr>
          <p:cNvPr id="10" name="Shape 8"/>
          <p:cNvSpPr/>
          <p:nvPr/>
        </p:nvSpPr>
        <p:spPr>
          <a:xfrm>
            <a:off x="6045098" y="2099462"/>
            <a:ext cx="98755" cy="98755"/>
          </a:xfrm>
          <a:prstGeom prst="ellipse">
            <a:avLst/>
          </a:prstGeom>
          <a:solidFill>
            <a:srgbClr val="C8A951"/>
          </a:solidFill>
          <a:ln w="12700">
            <a:solidFill>
              <a:srgbClr val="333333"/>
            </a:solidFill>
            <a:prstDash val="solid"/>
          </a:ln>
        </p:spPr>
      </p:sp>
      <p:sp>
        <p:nvSpPr>
          <p:cNvPr id="11" name="Text 9"/>
          <p:cNvSpPr/>
          <p:nvPr/>
        </p:nvSpPr>
        <p:spPr>
          <a:xfrm>
            <a:off x="0" y="2999232"/>
            <a:ext cx="12188952" cy="822960"/>
          </a:xfrm>
          <a:prstGeom prst="rect">
            <a:avLst/>
          </a:prstGeom>
          <a:noFill/>
          <a:ln/>
        </p:spPr>
        <p:txBody>
          <a:bodyPr wrap="square" lIns="0" tIns="0" rIns="0" bIns="0" rtlCol="0" anchor="ctr"/>
          <a:lstStyle/>
          <a:p>
            <a:pPr algn="ctr" indent="0" marL="0">
              <a:buNone/>
            </a:pPr>
            <a:r>
              <a:rPr lang="en-US" sz="5400" b="1" spc="900" kern="0" dirty="0">
                <a:solidFill>
                  <a:srgbClr val="FFFFFF"/>
                </a:solidFill>
                <a:latin typeface="Cambria" pitchFamily="34" charset="0"/>
                <a:ea typeface="Cambria" pitchFamily="34" charset="-122"/>
                <a:cs typeface="Cambria" pitchFamily="34" charset="-120"/>
              </a:rPr>
              <a:t>SURETY</a:t>
            </a:r>
            <a:endParaRPr lang="en-US" sz="5400" dirty="0"/>
          </a:p>
        </p:txBody>
      </p:sp>
      <p:sp>
        <p:nvSpPr>
          <p:cNvPr id="12" name="Text 10"/>
          <p:cNvSpPr/>
          <p:nvPr/>
        </p:nvSpPr>
        <p:spPr>
          <a:xfrm>
            <a:off x="0" y="3858768"/>
            <a:ext cx="12188952" cy="365760"/>
          </a:xfrm>
          <a:prstGeom prst="rect">
            <a:avLst/>
          </a:prstGeom>
          <a:noFill/>
          <a:ln/>
        </p:spPr>
        <p:txBody>
          <a:bodyPr wrap="square" lIns="0" tIns="0" rIns="0" bIns="0" rtlCol="0" anchor="ctr"/>
          <a:lstStyle/>
          <a:p>
            <a:pPr algn="ctr" indent="0" marL="0">
              <a:buNone/>
            </a:pPr>
            <a:r>
              <a:rPr lang="en-US" sz="1700" dirty="0">
                <a:solidFill>
                  <a:srgbClr val="C8A951"/>
                </a:solidFill>
                <a:latin typeface="Calibri" pitchFamily="34" charset="0"/>
                <a:ea typeface="Calibri" pitchFamily="34" charset="-122"/>
                <a:cs typeface="Calibri" pitchFamily="34" charset="-120"/>
              </a:rPr>
              <a:t>Agent Risk Underwriting for Amex Agentic Commerce</a:t>
            </a:r>
            <a:endParaRPr lang="en-US" sz="1700" dirty="0"/>
          </a:p>
        </p:txBody>
      </p:sp>
      <p:sp>
        <p:nvSpPr>
          <p:cNvPr id="13" name="Text 11"/>
          <p:cNvSpPr/>
          <p:nvPr/>
        </p:nvSpPr>
        <p:spPr>
          <a:xfrm>
            <a:off x="0" y="4279392"/>
            <a:ext cx="12188952" cy="320040"/>
          </a:xfrm>
          <a:prstGeom prst="rect">
            <a:avLst/>
          </a:prstGeom>
          <a:noFill/>
          <a:ln/>
        </p:spPr>
        <p:txBody>
          <a:bodyPr wrap="square" lIns="0" tIns="0" rIns="0" bIns="0" rtlCol="0" anchor="ctr"/>
          <a:lstStyle/>
          <a:p>
            <a:pPr algn="ctr" indent="0" marL="0">
              <a:buNone/>
            </a:pPr>
            <a:r>
              <a:rPr lang="en-US" sz="1300" spc="60" kern="0" dirty="0">
                <a:solidFill>
                  <a:srgbClr val="BFD0E4"/>
                </a:solidFill>
                <a:latin typeface="Calibri" pitchFamily="34" charset="0"/>
                <a:ea typeface="Calibri" pitchFamily="34" charset="-122"/>
                <a:cs typeface="Calibri" pitchFamily="34" charset="-120"/>
              </a:rPr>
              <a:t>Continuous risk scoring   ·   Dynamic exposure caps   ·   Circuit breakers   ·   Claims-grade evidence</a:t>
            </a:r>
            <a:endParaRPr lang="en-US" sz="1300" dirty="0"/>
          </a:p>
        </p:txBody>
      </p:sp>
      <p:sp>
        <p:nvSpPr>
          <p:cNvPr id="14" name="Text 12"/>
          <p:cNvSpPr/>
          <p:nvPr/>
        </p:nvSpPr>
        <p:spPr>
          <a:xfrm>
            <a:off x="0" y="5138928"/>
            <a:ext cx="12188952" cy="329184"/>
          </a:xfrm>
          <a:prstGeom prst="rect">
            <a:avLst/>
          </a:prstGeom>
          <a:noFill/>
          <a:ln/>
        </p:spPr>
        <p:txBody>
          <a:bodyPr wrap="square" lIns="0" tIns="0" rIns="0" bIns="0" rtlCol="0" anchor="ctr"/>
          <a:lstStyle/>
          <a:p>
            <a:pPr algn="ctr" indent="0" marL="0">
              <a:buNone/>
            </a:pPr>
            <a:r>
              <a:rPr lang="en-US" sz="1500" b="1" spc="450" kern="0" dirty="0">
                <a:solidFill>
                  <a:srgbClr val="FFFFFF"/>
                </a:solidFill>
                <a:latin typeface="Calibri" pitchFamily="34" charset="0"/>
                <a:ea typeface="Calibri" pitchFamily="34" charset="-122"/>
                <a:cs typeface="Calibri" pitchFamily="34" charset="-120"/>
              </a:rPr>
              <a:t>TEAM SURETY</a:t>
            </a:r>
            <a:endParaRPr lang="en-US" sz="1500" dirty="0"/>
          </a:p>
        </p:txBody>
      </p:sp>
      <p:sp>
        <p:nvSpPr>
          <p:cNvPr id="15" name="Text 13"/>
          <p:cNvSpPr/>
          <p:nvPr/>
        </p:nvSpPr>
        <p:spPr>
          <a:xfrm>
            <a:off x="0" y="5943600"/>
            <a:ext cx="12188952" cy="292608"/>
          </a:xfrm>
          <a:prstGeom prst="rect">
            <a:avLst/>
          </a:prstGeom>
          <a:noFill/>
          <a:ln/>
        </p:spPr>
        <p:txBody>
          <a:bodyPr wrap="square" lIns="0" tIns="0" rIns="0" bIns="0" rtlCol="0" anchor="ctr"/>
          <a:lstStyle/>
          <a:p>
            <a:pPr algn="ctr" indent="0" marL="0">
              <a:buNone/>
            </a:pPr>
            <a:r>
              <a:rPr lang="en-US" sz="1150" spc="140" kern="0" dirty="0">
                <a:solidFill>
                  <a:srgbClr val="7E97B5"/>
                </a:solidFill>
                <a:latin typeface="Calibri" pitchFamily="34" charset="0"/>
                <a:ea typeface="Calibri" pitchFamily="34" charset="-122"/>
                <a:cs typeface="Calibri" pitchFamily="34" charset="-120"/>
              </a:rPr>
              <a:t>CodeStreet 2026   ·   Governance Layer for Financial Agents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THE GOVERNANCE GAP</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Promise Without Underwriting</a:t>
            </a:r>
            <a:endParaRPr lang="en-US" sz="3400" dirty="0"/>
          </a:p>
        </p:txBody>
      </p:sp>
      <p:sp>
        <p:nvSpPr>
          <p:cNvPr id="4" name="Shape 2"/>
          <p:cNvSpPr/>
          <p:nvPr/>
        </p:nvSpPr>
        <p:spPr>
          <a:xfrm>
            <a:off x="640080" y="1737360"/>
            <a:ext cx="3392424" cy="1371600"/>
          </a:xfrm>
          <a:prstGeom prst="roundRect">
            <a:avLst>
              <a:gd name="adj" fmla="val 3333"/>
            </a:avLst>
          </a:prstGeom>
          <a:solidFill>
            <a:srgbClr val="0F2A4A"/>
          </a:solidFill>
          <a:ln w="9525">
            <a:solidFill>
              <a:srgbClr val="1E4470"/>
            </a:solidFill>
            <a:prstDash val="solid"/>
          </a:ln>
        </p:spPr>
      </p:sp>
      <p:sp>
        <p:nvSpPr>
          <p:cNvPr id="5" name="Text 3"/>
          <p:cNvSpPr/>
          <p:nvPr/>
        </p:nvSpPr>
        <p:spPr>
          <a:xfrm>
            <a:off x="896112" y="1938528"/>
            <a:ext cx="2880360" cy="219456"/>
          </a:xfrm>
          <a:prstGeom prst="rect">
            <a:avLst/>
          </a:prstGeom>
          <a:noFill/>
          <a:ln/>
        </p:spPr>
        <p:txBody>
          <a:bodyPr wrap="square" lIns="0" tIns="0" rIns="0" bIns="0" rtlCol="0" anchor="ctr"/>
          <a:lstStyle/>
          <a:p>
            <a:pPr indent="0" marL="0">
              <a:buNone/>
            </a:pPr>
            <a:r>
              <a:rPr lang="en-US" sz="950" b="1" spc="150" kern="0" dirty="0">
                <a:solidFill>
                  <a:srgbClr val="7E97B5"/>
                </a:solidFill>
                <a:latin typeface="Calibri" pitchFamily="34" charset="0"/>
                <a:ea typeface="Calibri" pitchFamily="34" charset="-122"/>
                <a:cs typeface="Calibri" pitchFamily="34" charset="-120"/>
              </a:rPr>
              <a:t>14 APR 2026</a:t>
            </a:r>
            <a:endParaRPr lang="en-US" sz="950" dirty="0"/>
          </a:p>
        </p:txBody>
      </p:sp>
      <p:sp>
        <p:nvSpPr>
          <p:cNvPr id="6" name="Text 4"/>
          <p:cNvSpPr/>
          <p:nvPr/>
        </p:nvSpPr>
        <p:spPr>
          <a:xfrm>
            <a:off x="896112" y="2194560"/>
            <a:ext cx="28803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ACE Developer Kit</a:t>
            </a:r>
            <a:endParaRPr lang="en-US" sz="1500" dirty="0"/>
          </a:p>
        </p:txBody>
      </p:sp>
      <p:sp>
        <p:nvSpPr>
          <p:cNvPr id="7" name="Text 5"/>
          <p:cNvSpPr/>
          <p:nvPr/>
        </p:nvSpPr>
        <p:spPr>
          <a:xfrm>
            <a:off x="896112" y="2523744"/>
            <a:ext cx="2880360" cy="402336"/>
          </a:xfrm>
          <a:prstGeom prst="rect">
            <a:avLst/>
          </a:prstGeom>
          <a:noFill/>
          <a:ln/>
        </p:spPr>
        <p:txBody>
          <a:bodyPr wrap="square" lIns="0" tIns="0" rIns="0" bIns="0" rtlCol="0" anchor="ctr"/>
          <a:lstStyle/>
          <a:p>
            <a:pPr indent="0" marL="0">
              <a:lnSpc>
                <a:spcPts val="1500"/>
              </a:lnSpc>
              <a:buNone/>
            </a:pPr>
            <a:r>
              <a:rPr lang="en-US" sz="1200" dirty="0">
                <a:solidFill>
                  <a:srgbClr val="BFD0E4"/>
                </a:solidFill>
                <a:latin typeface="Calibri" pitchFamily="34" charset="0"/>
                <a:ea typeface="Calibri" pitchFamily="34" charset="-122"/>
                <a:cs typeface="Calibri" pitchFamily="34" charset="-120"/>
              </a:rPr>
              <a:t>Amex opens agent-initiated purchasing to developers.</a:t>
            </a:r>
            <a:endParaRPr lang="en-US" sz="1200" dirty="0"/>
          </a:p>
        </p:txBody>
      </p:sp>
      <p:sp>
        <p:nvSpPr>
          <p:cNvPr id="8" name="Shape 6"/>
          <p:cNvSpPr/>
          <p:nvPr/>
        </p:nvSpPr>
        <p:spPr>
          <a:xfrm>
            <a:off x="4123944" y="2423160"/>
            <a:ext cx="182880" cy="0"/>
          </a:xfrm>
          <a:prstGeom prst="line">
            <a:avLst/>
          </a:prstGeom>
          <a:noFill/>
          <a:ln w="15875">
            <a:solidFill>
              <a:srgbClr val="1E4470"/>
            </a:solidFill>
            <a:prstDash val="solid"/>
            <a:tailEnd type="triangle"/>
          </a:ln>
        </p:spPr>
      </p:sp>
      <p:sp>
        <p:nvSpPr>
          <p:cNvPr id="9" name="Shape 7"/>
          <p:cNvSpPr/>
          <p:nvPr/>
        </p:nvSpPr>
        <p:spPr>
          <a:xfrm>
            <a:off x="4398264" y="1737360"/>
            <a:ext cx="3392424" cy="1371600"/>
          </a:xfrm>
          <a:prstGeom prst="roundRect">
            <a:avLst>
              <a:gd name="adj" fmla="val 3333"/>
            </a:avLst>
          </a:prstGeom>
          <a:solidFill>
            <a:srgbClr val="0F2A4A"/>
          </a:solidFill>
          <a:ln w="9525">
            <a:solidFill>
              <a:srgbClr val="1E4470"/>
            </a:solidFill>
            <a:prstDash val="solid"/>
          </a:ln>
        </p:spPr>
      </p:sp>
      <p:sp>
        <p:nvSpPr>
          <p:cNvPr id="10" name="Text 8"/>
          <p:cNvSpPr/>
          <p:nvPr/>
        </p:nvSpPr>
        <p:spPr>
          <a:xfrm>
            <a:off x="4654296" y="1938528"/>
            <a:ext cx="2880360" cy="219456"/>
          </a:xfrm>
          <a:prstGeom prst="rect">
            <a:avLst/>
          </a:prstGeom>
          <a:noFill/>
          <a:ln/>
        </p:spPr>
        <p:txBody>
          <a:bodyPr wrap="square" lIns="0" tIns="0" rIns="0" bIns="0" rtlCol="0" anchor="ctr"/>
          <a:lstStyle/>
          <a:p>
            <a:pPr indent="0" marL="0">
              <a:buNone/>
            </a:pPr>
            <a:r>
              <a:rPr lang="en-US" sz="950" b="1" spc="150" kern="0" dirty="0">
                <a:solidFill>
                  <a:srgbClr val="7E97B5"/>
                </a:solidFill>
                <a:latin typeface="Calibri" pitchFamily="34" charset="0"/>
                <a:ea typeface="Calibri" pitchFamily="34" charset="-122"/>
                <a:cs typeface="Calibri" pitchFamily="34" charset="-120"/>
              </a:rPr>
              <a:t>14 APR 2026</a:t>
            </a:r>
            <a:endParaRPr lang="en-US" sz="950" dirty="0"/>
          </a:p>
        </p:txBody>
      </p:sp>
      <p:sp>
        <p:nvSpPr>
          <p:cNvPr id="11" name="Text 9"/>
          <p:cNvSpPr/>
          <p:nvPr/>
        </p:nvSpPr>
        <p:spPr>
          <a:xfrm>
            <a:off x="4654296" y="2194560"/>
            <a:ext cx="28803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Agent Purchase Protection</a:t>
            </a:r>
            <a:endParaRPr lang="en-US" sz="1500" dirty="0"/>
          </a:p>
        </p:txBody>
      </p:sp>
      <p:sp>
        <p:nvSpPr>
          <p:cNvPr id="12" name="Text 10"/>
          <p:cNvSpPr/>
          <p:nvPr/>
        </p:nvSpPr>
        <p:spPr>
          <a:xfrm>
            <a:off x="4654296" y="2523744"/>
            <a:ext cx="2880360" cy="402336"/>
          </a:xfrm>
          <a:prstGeom prst="rect">
            <a:avLst/>
          </a:prstGeom>
          <a:noFill/>
          <a:ln/>
        </p:spPr>
        <p:txBody>
          <a:bodyPr wrap="square" lIns="0" tIns="0" rIns="0" bIns="0" rtlCol="0" anchor="ctr"/>
          <a:lstStyle/>
          <a:p>
            <a:pPr indent="0" marL="0">
              <a:lnSpc>
                <a:spcPts val="1500"/>
              </a:lnSpc>
              <a:buNone/>
            </a:pPr>
            <a:r>
              <a:rPr lang="en-US" sz="1200" dirty="0">
                <a:solidFill>
                  <a:srgbClr val="BFD0E4"/>
                </a:solidFill>
                <a:latin typeface="Calibri" pitchFamily="34" charset="0"/>
                <a:ea typeface="Calibri" pitchFamily="34" charset="-122"/>
                <a:cs typeface="Calibri" pitchFamily="34" charset="-120"/>
              </a:rPr>
              <a:t>Industry-first cover for registered-agent purchase errors.</a:t>
            </a:r>
            <a:endParaRPr lang="en-US" sz="1200" dirty="0"/>
          </a:p>
        </p:txBody>
      </p:sp>
      <p:sp>
        <p:nvSpPr>
          <p:cNvPr id="13" name="Shape 11"/>
          <p:cNvSpPr/>
          <p:nvPr/>
        </p:nvSpPr>
        <p:spPr>
          <a:xfrm>
            <a:off x="7882128" y="2423160"/>
            <a:ext cx="182880" cy="0"/>
          </a:xfrm>
          <a:prstGeom prst="line">
            <a:avLst/>
          </a:prstGeom>
          <a:noFill/>
          <a:ln w="15875">
            <a:solidFill>
              <a:srgbClr val="1E4470"/>
            </a:solidFill>
            <a:prstDash val="solid"/>
            <a:tailEnd type="triangle"/>
          </a:ln>
        </p:spPr>
      </p:sp>
      <p:sp>
        <p:nvSpPr>
          <p:cNvPr id="14" name="Shape 12"/>
          <p:cNvSpPr/>
          <p:nvPr/>
        </p:nvSpPr>
        <p:spPr>
          <a:xfrm>
            <a:off x="8156448" y="1737360"/>
            <a:ext cx="3392424" cy="1371600"/>
          </a:xfrm>
          <a:prstGeom prst="roundRect">
            <a:avLst>
              <a:gd name="adj" fmla="val 3333"/>
            </a:avLst>
          </a:prstGeom>
          <a:solidFill>
            <a:srgbClr val="0B1F3A"/>
          </a:solidFill>
          <a:ln w="15875">
            <a:solidFill>
              <a:srgbClr val="C8A951"/>
            </a:solidFill>
            <a:prstDash val="dash"/>
          </a:ln>
        </p:spPr>
      </p:sp>
      <p:sp>
        <p:nvSpPr>
          <p:cNvPr id="15" name="Text 13"/>
          <p:cNvSpPr/>
          <p:nvPr/>
        </p:nvSpPr>
        <p:spPr>
          <a:xfrm>
            <a:off x="8412480" y="1938528"/>
            <a:ext cx="2880360" cy="219456"/>
          </a:xfrm>
          <a:prstGeom prst="rect">
            <a:avLst/>
          </a:prstGeom>
          <a:noFill/>
          <a:ln/>
        </p:spPr>
        <p:txBody>
          <a:bodyPr wrap="square" lIns="0" tIns="0" rIns="0" bIns="0" rtlCol="0" anchor="ctr"/>
          <a:lstStyle/>
          <a:p>
            <a:pPr indent="0" marL="0">
              <a:buNone/>
            </a:pPr>
            <a:r>
              <a:rPr lang="en-US" sz="950" b="1" spc="150" kern="0" dirty="0">
                <a:solidFill>
                  <a:srgbClr val="C8A951"/>
                </a:solidFill>
                <a:latin typeface="Calibri" pitchFamily="34" charset="0"/>
                <a:ea typeface="Calibri" pitchFamily="34" charset="-122"/>
                <a:cs typeface="Calibri" pitchFamily="34" charset="-120"/>
              </a:rPr>
              <a:t>MISSING</a:t>
            </a:r>
            <a:endParaRPr lang="en-US" sz="950" dirty="0"/>
          </a:p>
        </p:txBody>
      </p:sp>
      <p:sp>
        <p:nvSpPr>
          <p:cNvPr id="16" name="Text 14"/>
          <p:cNvSpPr/>
          <p:nvPr/>
        </p:nvSpPr>
        <p:spPr>
          <a:xfrm>
            <a:off x="8412480" y="2194560"/>
            <a:ext cx="2880360" cy="310896"/>
          </a:xfrm>
          <a:prstGeom prst="rect">
            <a:avLst/>
          </a:prstGeom>
          <a:noFill/>
          <a:ln/>
        </p:spPr>
        <p:txBody>
          <a:bodyPr wrap="square" lIns="0" tIns="0" rIns="0" bIns="0" rtlCol="0" anchor="ctr"/>
          <a:lstStyle/>
          <a:p>
            <a:pPr indent="0" marL="0">
              <a:buNone/>
            </a:pPr>
            <a:r>
              <a:rPr lang="en-US" sz="1500" b="1" dirty="0">
                <a:solidFill>
                  <a:srgbClr val="C8A951"/>
                </a:solidFill>
                <a:latin typeface="Calibri" pitchFamily="34" charset="0"/>
                <a:ea typeface="Calibri" pitchFamily="34" charset="-122"/>
                <a:cs typeface="Calibri" pitchFamily="34" charset="-120"/>
              </a:rPr>
              <a:t>The actuarial layer</a:t>
            </a:r>
            <a:endParaRPr lang="en-US" sz="1500" dirty="0"/>
          </a:p>
        </p:txBody>
      </p:sp>
      <p:sp>
        <p:nvSpPr>
          <p:cNvPr id="17" name="Text 15"/>
          <p:cNvSpPr/>
          <p:nvPr/>
        </p:nvSpPr>
        <p:spPr>
          <a:xfrm>
            <a:off x="8412480" y="2523744"/>
            <a:ext cx="2880360" cy="402336"/>
          </a:xfrm>
          <a:prstGeom prst="rect">
            <a:avLst/>
          </a:prstGeom>
          <a:noFill/>
          <a:ln/>
        </p:spPr>
        <p:txBody>
          <a:bodyPr wrap="square" lIns="0" tIns="0" rIns="0" bIns="0" rtlCol="0" anchor="ctr"/>
          <a:lstStyle/>
          <a:p>
            <a:pPr indent="0" marL="0">
              <a:lnSpc>
                <a:spcPts val="1500"/>
              </a:lnSpc>
              <a:buNone/>
            </a:pPr>
            <a:r>
              <a:rPr lang="en-US" sz="1200" dirty="0">
                <a:solidFill>
                  <a:srgbClr val="BFD0E4"/>
                </a:solidFill>
                <a:latin typeface="Calibri" pitchFamily="34" charset="0"/>
                <a:ea typeface="Calibri" pitchFamily="34" charset="-122"/>
                <a:cs typeface="Calibri" pitchFamily="34" charset="-120"/>
              </a:rPr>
              <a:t>No exposure pricing. No live caps. No claims evidence.</a:t>
            </a:r>
            <a:endParaRPr lang="en-US" sz="1200" dirty="0"/>
          </a:p>
        </p:txBody>
      </p:sp>
      <p:sp>
        <p:nvSpPr>
          <p:cNvPr id="18" name="Shape 16"/>
          <p:cNvSpPr/>
          <p:nvPr/>
        </p:nvSpPr>
        <p:spPr>
          <a:xfrm>
            <a:off x="640080" y="3520440"/>
            <a:ext cx="6949440" cy="2212848"/>
          </a:xfrm>
          <a:prstGeom prst="roundRect">
            <a:avLst>
              <a:gd name="adj" fmla="val 2066"/>
            </a:avLst>
          </a:prstGeom>
          <a:solidFill>
            <a:srgbClr val="081A31"/>
          </a:solidFill>
          <a:ln w="9525">
            <a:solidFill>
              <a:srgbClr val="1E4470"/>
            </a:solidFill>
            <a:prstDash val="solid"/>
          </a:ln>
        </p:spPr>
      </p:sp>
      <p:sp>
        <p:nvSpPr>
          <p:cNvPr id="19" name="Text 17"/>
          <p:cNvSpPr/>
          <p:nvPr/>
        </p:nvSpPr>
        <p:spPr>
          <a:xfrm>
            <a:off x="950976" y="3758184"/>
            <a:ext cx="5943600" cy="219456"/>
          </a:xfrm>
          <a:prstGeom prst="rect">
            <a:avLst/>
          </a:prstGeom>
          <a:noFill/>
          <a:ln/>
        </p:spPr>
        <p:txBody>
          <a:bodyPr wrap="square" lIns="0" tIns="0" rIns="0" bIns="0" rtlCol="0" anchor="ctr"/>
          <a:lstStyle/>
          <a:p>
            <a:pPr indent="0" marL="0">
              <a:buNone/>
            </a:pPr>
            <a:r>
              <a:rPr lang="en-US" sz="950" b="1" spc="150" kern="0" dirty="0">
                <a:solidFill>
                  <a:srgbClr val="C8A951"/>
                </a:solidFill>
                <a:latin typeface="Calibri" pitchFamily="34" charset="0"/>
                <a:ea typeface="Calibri" pitchFamily="34" charset="-122"/>
                <a:cs typeface="Calibri" pitchFamily="34" charset="-120"/>
              </a:rPr>
              <a:t>WHY THE PROMISE NEEDS UNDERWRITING</a:t>
            </a:r>
            <a:endParaRPr lang="en-US" sz="950" dirty="0"/>
          </a:p>
        </p:txBody>
      </p:sp>
      <p:sp>
        <p:nvSpPr>
          <p:cNvPr id="20" name="Text 18"/>
          <p:cNvSpPr/>
          <p:nvPr/>
        </p:nvSpPr>
        <p:spPr>
          <a:xfrm>
            <a:off x="950976" y="4050792"/>
            <a:ext cx="6355080" cy="548640"/>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Calibri" pitchFamily="34" charset="0"/>
                <a:ea typeface="Calibri" pitchFamily="34" charset="-122"/>
                <a:cs typeface="Calibri" pitchFamily="34" charset="-120"/>
              </a:rPr>
              <a:t>An open-ended promise is an open-ended liability. </a:t>
            </a:r>
            <a:pPr indent="0" marL="0">
              <a:lnSpc>
                <a:spcPts val="1900"/>
              </a:lnSpc>
              <a:buNone/>
            </a:pPr>
            <a:r>
              <a:rPr lang="en-US" sz="1400" dirty="0">
                <a:solidFill>
                  <a:srgbClr val="BFD0E4"/>
                </a:solidFill>
                <a:latin typeface="Calibri" pitchFamily="34" charset="0"/>
                <a:ea typeface="Calibri" pitchFamily="34" charset="-122"/>
                <a:cs typeface="Calibri" pitchFamily="34" charset="-120"/>
              </a:rPr>
              <a:t>Without live scoring, every registered agent carries the same unpriced exposure.</a:t>
            </a:r>
            <a:endParaRPr lang="en-US" sz="1400" dirty="0"/>
          </a:p>
        </p:txBody>
      </p:sp>
      <p:sp>
        <p:nvSpPr>
          <p:cNvPr id="21" name="Shape 19"/>
          <p:cNvSpPr/>
          <p:nvPr/>
        </p:nvSpPr>
        <p:spPr>
          <a:xfrm>
            <a:off x="969264" y="4809744"/>
            <a:ext cx="73152" cy="73152"/>
          </a:xfrm>
          <a:prstGeom prst="ellipse">
            <a:avLst/>
          </a:prstGeom>
          <a:solidFill>
            <a:srgbClr val="016FD0"/>
          </a:solidFill>
          <a:ln w="12700">
            <a:solidFill>
              <a:srgbClr val="333333"/>
            </a:solidFill>
            <a:prstDash val="solid"/>
          </a:ln>
        </p:spPr>
      </p:sp>
      <p:sp>
        <p:nvSpPr>
          <p:cNvPr id="22" name="Text 20"/>
          <p:cNvSpPr/>
          <p:nvPr/>
        </p:nvSpPr>
        <p:spPr>
          <a:xfrm>
            <a:off x="1188720" y="4727448"/>
            <a:ext cx="6126480" cy="274320"/>
          </a:xfrm>
          <a:prstGeom prst="rect">
            <a:avLst/>
          </a:prstGeom>
          <a:noFill/>
          <a:ln/>
        </p:spPr>
        <p:txBody>
          <a:bodyPr wrap="square" lIns="0" tIns="0" rIns="0" bIns="0" rtlCol="0" anchor="ctr"/>
          <a:lstStyle/>
          <a:p>
            <a:pPr indent="0" marL="0">
              <a:buNone/>
            </a:pPr>
            <a:r>
              <a:rPr lang="en-US" sz="1250" dirty="0">
                <a:solidFill>
                  <a:srgbClr val="BFD0E4"/>
                </a:solidFill>
                <a:latin typeface="Calibri" pitchFamily="34" charset="0"/>
                <a:ea typeface="Calibri" pitchFamily="34" charset="-122"/>
                <a:cs typeface="Calibri" pitchFamily="34" charset="-120"/>
              </a:rPr>
              <a:t>Disputes resolve after the money has moved, not before.</a:t>
            </a:r>
            <a:endParaRPr lang="en-US" sz="1250" dirty="0"/>
          </a:p>
        </p:txBody>
      </p:sp>
      <p:sp>
        <p:nvSpPr>
          <p:cNvPr id="23" name="Shape 21"/>
          <p:cNvSpPr/>
          <p:nvPr/>
        </p:nvSpPr>
        <p:spPr>
          <a:xfrm>
            <a:off x="969264" y="5138928"/>
            <a:ext cx="73152" cy="73152"/>
          </a:xfrm>
          <a:prstGeom prst="ellipse">
            <a:avLst/>
          </a:prstGeom>
          <a:solidFill>
            <a:srgbClr val="016FD0"/>
          </a:solidFill>
          <a:ln w="12700">
            <a:solidFill>
              <a:srgbClr val="333333"/>
            </a:solidFill>
            <a:prstDash val="solid"/>
          </a:ln>
        </p:spPr>
      </p:sp>
      <p:sp>
        <p:nvSpPr>
          <p:cNvPr id="24" name="Text 22"/>
          <p:cNvSpPr/>
          <p:nvPr/>
        </p:nvSpPr>
        <p:spPr>
          <a:xfrm>
            <a:off x="1188720" y="5056632"/>
            <a:ext cx="6126480" cy="274320"/>
          </a:xfrm>
          <a:prstGeom prst="rect">
            <a:avLst/>
          </a:prstGeom>
          <a:noFill/>
          <a:ln/>
        </p:spPr>
        <p:txBody>
          <a:bodyPr wrap="square" lIns="0" tIns="0" rIns="0" bIns="0" rtlCol="0" anchor="ctr"/>
          <a:lstStyle/>
          <a:p>
            <a:pPr indent="0" marL="0">
              <a:buNone/>
            </a:pPr>
            <a:r>
              <a:rPr lang="en-US" sz="1250" dirty="0">
                <a:solidFill>
                  <a:srgbClr val="BFD0E4"/>
                </a:solidFill>
                <a:latin typeface="Calibri" pitchFamily="34" charset="0"/>
                <a:ea typeface="Calibri" pitchFamily="34" charset="-122"/>
                <a:cs typeface="Calibri" pitchFamily="34" charset="-120"/>
              </a:rPr>
              <a:t>Nothing on file proves what the Card Member actually asked for.</a:t>
            </a:r>
            <a:endParaRPr lang="en-US" sz="1250" dirty="0"/>
          </a:p>
        </p:txBody>
      </p:sp>
      <p:sp>
        <p:nvSpPr>
          <p:cNvPr id="25" name="Shape 23"/>
          <p:cNvSpPr/>
          <p:nvPr/>
        </p:nvSpPr>
        <p:spPr>
          <a:xfrm>
            <a:off x="969264" y="5468112"/>
            <a:ext cx="73152" cy="73152"/>
          </a:xfrm>
          <a:prstGeom prst="ellipse">
            <a:avLst/>
          </a:prstGeom>
          <a:solidFill>
            <a:srgbClr val="016FD0"/>
          </a:solidFill>
          <a:ln w="12700">
            <a:solidFill>
              <a:srgbClr val="333333"/>
            </a:solidFill>
            <a:prstDash val="solid"/>
          </a:ln>
        </p:spPr>
      </p:sp>
      <p:sp>
        <p:nvSpPr>
          <p:cNvPr id="26" name="Text 24"/>
          <p:cNvSpPr/>
          <p:nvPr/>
        </p:nvSpPr>
        <p:spPr>
          <a:xfrm>
            <a:off x="1188720" y="5385816"/>
            <a:ext cx="6126480" cy="274320"/>
          </a:xfrm>
          <a:prstGeom prst="rect">
            <a:avLst/>
          </a:prstGeom>
          <a:noFill/>
          <a:ln/>
        </p:spPr>
        <p:txBody>
          <a:bodyPr wrap="square" lIns="0" tIns="0" rIns="0" bIns="0" rtlCol="0" anchor="ctr"/>
          <a:lstStyle/>
          <a:p>
            <a:pPr indent="0" marL="0">
              <a:buNone/>
            </a:pPr>
            <a:r>
              <a:rPr lang="en-US" sz="1250" b="1" dirty="0">
                <a:solidFill>
                  <a:srgbClr val="C8A951"/>
                </a:solidFill>
                <a:latin typeface="Calibri" pitchFamily="34" charset="0"/>
                <a:ea typeface="Calibri" pitchFamily="34" charset="-122"/>
                <a:cs typeface="Calibri" pitchFamily="34" charset="-120"/>
              </a:rPr>
              <a:t>324M  </a:t>
            </a:r>
            <a:pPr indent="0" marL="0">
              <a:buNone/>
            </a:pPr>
            <a:r>
              <a:rPr lang="en-US" sz="1250" dirty="0">
                <a:solidFill>
                  <a:srgbClr val="BFD0E4"/>
                </a:solidFill>
                <a:latin typeface="Calibri" pitchFamily="34" charset="0"/>
                <a:ea typeface="Calibri" pitchFamily="34" charset="-122"/>
                <a:cs typeface="Calibri" pitchFamily="34" charset="-120"/>
              </a:rPr>
              <a:t>global chargebacks forecast by 2028, up 24% on 2025, before agent errors are counted.</a:t>
            </a:r>
            <a:endParaRPr lang="en-US" sz="1250" dirty="0"/>
          </a:p>
        </p:txBody>
      </p:sp>
      <p:sp>
        <p:nvSpPr>
          <p:cNvPr id="27" name="Shape 25"/>
          <p:cNvSpPr/>
          <p:nvPr/>
        </p:nvSpPr>
        <p:spPr>
          <a:xfrm>
            <a:off x="8001000" y="3520440"/>
            <a:ext cx="3547872" cy="2212848"/>
          </a:xfrm>
          <a:prstGeom prst="roundRect">
            <a:avLst>
              <a:gd name="adj" fmla="val 2066"/>
            </a:avLst>
          </a:prstGeom>
          <a:solidFill>
            <a:srgbClr val="0F2A4A"/>
          </a:solidFill>
          <a:ln w="12700">
            <a:solidFill>
              <a:srgbClr val="C8A951"/>
            </a:solidFill>
            <a:prstDash val="solid"/>
          </a:ln>
        </p:spPr>
      </p:sp>
      <p:sp>
        <p:nvSpPr>
          <p:cNvPr id="28" name="Text 26"/>
          <p:cNvSpPr/>
          <p:nvPr/>
        </p:nvSpPr>
        <p:spPr>
          <a:xfrm>
            <a:off x="8311896" y="3758184"/>
            <a:ext cx="2926080" cy="219456"/>
          </a:xfrm>
          <a:prstGeom prst="rect">
            <a:avLst/>
          </a:prstGeom>
          <a:noFill/>
          <a:ln/>
        </p:spPr>
        <p:txBody>
          <a:bodyPr wrap="square" lIns="0" tIns="0" rIns="0" bIns="0" rtlCol="0" anchor="ctr"/>
          <a:lstStyle/>
          <a:p>
            <a:pPr indent="0" marL="0">
              <a:buNone/>
            </a:pPr>
            <a:r>
              <a:rPr lang="en-US" sz="950" b="1" spc="150" kern="0" dirty="0">
                <a:solidFill>
                  <a:srgbClr val="C8A951"/>
                </a:solidFill>
                <a:latin typeface="Calibri" pitchFamily="34" charset="0"/>
                <a:ea typeface="Calibri" pitchFamily="34" charset="-122"/>
                <a:cs typeface="Calibri" pitchFamily="34" charset="-120"/>
              </a:rPr>
              <a:t>ONE AGENT ERROR</a:t>
            </a:r>
            <a:endParaRPr lang="en-US" sz="950" dirty="0"/>
          </a:p>
        </p:txBody>
      </p:sp>
      <p:sp>
        <p:nvSpPr>
          <p:cNvPr id="29" name="Text 27"/>
          <p:cNvSpPr/>
          <p:nvPr/>
        </p:nvSpPr>
        <p:spPr>
          <a:xfrm>
            <a:off x="8311896" y="4032504"/>
            <a:ext cx="2926080" cy="6400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₹17,000</a:t>
            </a:r>
            <a:endParaRPr lang="en-US" sz="4000" dirty="0"/>
          </a:p>
        </p:txBody>
      </p:sp>
      <p:sp>
        <p:nvSpPr>
          <p:cNvPr id="30" name="Text 28"/>
          <p:cNvSpPr/>
          <p:nvPr/>
        </p:nvSpPr>
        <p:spPr>
          <a:xfrm>
            <a:off x="8311896" y="4654296"/>
            <a:ext cx="2926080" cy="274320"/>
          </a:xfrm>
          <a:prstGeom prst="rect">
            <a:avLst/>
          </a:prstGeom>
          <a:noFill/>
          <a:ln/>
        </p:spPr>
        <p:txBody>
          <a:bodyPr wrap="square" lIns="0" tIns="0" rIns="0" bIns="0" rtlCol="0" anchor="ctr"/>
          <a:lstStyle/>
          <a:p>
            <a:pPr indent="0" marL="0">
              <a:buNone/>
            </a:pPr>
            <a:r>
              <a:rPr lang="en-US" sz="1250" dirty="0">
                <a:solidFill>
                  <a:srgbClr val="BFD0E4"/>
                </a:solidFill>
                <a:latin typeface="Calibri" pitchFamily="34" charset="0"/>
                <a:ea typeface="Calibri" pitchFamily="34" charset="-122"/>
                <a:cs typeface="Calibri" pitchFamily="34" charset="-120"/>
              </a:rPr>
              <a:t>overspent against a stated ceiling</a:t>
            </a:r>
            <a:endParaRPr lang="en-US" sz="1250" dirty="0"/>
          </a:p>
        </p:txBody>
      </p:sp>
      <p:sp>
        <p:nvSpPr>
          <p:cNvPr id="31" name="Text 29"/>
          <p:cNvSpPr/>
          <p:nvPr/>
        </p:nvSpPr>
        <p:spPr>
          <a:xfrm>
            <a:off x="8311896" y="5038344"/>
            <a:ext cx="2926080" cy="548640"/>
          </a:xfrm>
          <a:prstGeom prst="rect">
            <a:avLst/>
          </a:prstGeom>
          <a:noFill/>
          <a:ln/>
        </p:spPr>
        <p:txBody>
          <a:bodyPr wrap="square" lIns="0" tIns="0" rIns="0" bIns="0" rtlCol="0" anchor="ctr"/>
          <a:lstStyle/>
          <a:p>
            <a:pPr indent="0" marL="0">
              <a:lnSpc>
                <a:spcPts val="1700"/>
              </a:lnSpc>
              <a:buNone/>
            </a:pPr>
            <a:r>
              <a:rPr lang="en-US" sz="1250" dirty="0">
                <a:solidFill>
                  <a:srgbClr val="7E97B5"/>
                </a:solidFill>
                <a:latin typeface="Calibri" pitchFamily="34" charset="0"/>
                <a:ea typeface="Calibri" pitchFamily="34" charset="-122"/>
                <a:cs typeface="Calibri" pitchFamily="34" charset="-120"/>
              </a:rPr>
              <a:t>Weeks of dispute.</a:t>
            </a:r>
            <a:endParaRPr lang="en-US" sz="1250" dirty="0"/>
          </a:p>
          <a:p>
            <a:pPr indent="0" marL="0">
              <a:lnSpc>
                <a:spcPts val="1700"/>
              </a:lnSpc>
              <a:buNone/>
            </a:pPr>
            <a:r>
              <a:rPr lang="en-US" sz="1250" dirty="0">
                <a:solidFill>
                  <a:srgbClr val="7E97B5"/>
                </a:solidFill>
                <a:latin typeface="Calibri" pitchFamily="34" charset="0"/>
                <a:ea typeface="Calibri" pitchFamily="34" charset="-122"/>
                <a:cs typeface="Calibri" pitchFamily="34" charset="-120"/>
              </a:rPr>
              <a:t>No record of the original instruction.</a:t>
            </a:r>
            <a:endParaRPr lang="en-US" sz="1250" dirty="0"/>
          </a:p>
        </p:txBody>
      </p:sp>
      <p:sp>
        <p:nvSpPr>
          <p:cNvPr id="32" name="Text 30"/>
          <p:cNvSpPr/>
          <p:nvPr/>
        </p:nvSpPr>
        <p:spPr>
          <a:xfrm>
            <a:off x="640080" y="5998464"/>
            <a:ext cx="10908792" cy="256032"/>
          </a:xfrm>
          <a:prstGeom prst="rect">
            <a:avLst/>
          </a:prstGeom>
          <a:noFill/>
          <a:ln/>
        </p:spPr>
        <p:txBody>
          <a:bodyPr wrap="square" lIns="0" tIns="0" rIns="0" bIns="0" rtlCol="0" anchor="ctr"/>
          <a:lstStyle/>
          <a:p>
            <a:pPr indent="0" marL="0">
              <a:buNone/>
            </a:pPr>
            <a:r>
              <a:rPr lang="en-US" sz="850" i="1" dirty="0">
                <a:solidFill>
                  <a:srgbClr val="6B85A3"/>
                </a:solidFill>
                <a:latin typeface="Calibri" pitchFamily="34" charset="0"/>
                <a:ea typeface="Calibri" pitchFamily="34" charset="-122"/>
                <a:cs typeface="Calibri" pitchFamily="34" charset="-120"/>
              </a:rPr>
              <a:t>Sources: American Express Newsroom, ACE Developer Kit and Agent Purchase Protection, 14 Apr 2026  ·  Mastercard / Datos Insights, 2025 Global Chargebacks Outlook.</a:t>
            </a:r>
            <a:endParaRPr lang="en-US" sz="850" dirty="0"/>
          </a:p>
        </p:txBody>
      </p:sp>
      <p:sp>
        <p:nvSpPr>
          <p:cNvPr id="33" name="Text 31"/>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34" name="Text 32"/>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02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Loop: Score, Cap, Stop, Prove</a:t>
            </a:r>
            <a:endParaRPr lang="en-US" sz="3400" dirty="0"/>
          </a:p>
        </p:txBody>
      </p:sp>
      <p:sp>
        <p:nvSpPr>
          <p:cNvPr id="4" name="Shape 2"/>
          <p:cNvSpPr/>
          <p:nvPr/>
        </p:nvSpPr>
        <p:spPr>
          <a:xfrm>
            <a:off x="640080" y="1645920"/>
            <a:ext cx="5271516" cy="822960"/>
          </a:xfrm>
          <a:prstGeom prst="roundRect">
            <a:avLst>
              <a:gd name="adj" fmla="val 5556"/>
            </a:avLst>
          </a:prstGeom>
          <a:solidFill>
            <a:srgbClr val="081A31"/>
          </a:solidFill>
          <a:ln w="9525">
            <a:solidFill>
              <a:srgbClr val="1E4470"/>
            </a:solidFill>
            <a:prstDash val="solid"/>
          </a:ln>
        </p:spPr>
      </p:sp>
      <p:sp>
        <p:nvSpPr>
          <p:cNvPr id="5" name="Text 3"/>
          <p:cNvSpPr/>
          <p:nvPr/>
        </p:nvSpPr>
        <p:spPr>
          <a:xfrm>
            <a:off x="896112" y="1755648"/>
            <a:ext cx="4759452" cy="219456"/>
          </a:xfrm>
          <a:prstGeom prst="rect">
            <a:avLst/>
          </a:prstGeom>
          <a:noFill/>
          <a:ln/>
        </p:spPr>
        <p:txBody>
          <a:bodyPr wrap="square" lIns="0" tIns="0" rIns="0" bIns="0" rtlCol="0" anchor="ctr"/>
          <a:lstStyle/>
          <a:p>
            <a:pPr indent="0" marL="0">
              <a:buNone/>
            </a:pPr>
            <a:r>
              <a:rPr lang="en-US" sz="950" b="1" spc="150" kern="0" dirty="0">
                <a:solidFill>
                  <a:srgbClr val="7E97B5"/>
                </a:solidFill>
                <a:latin typeface="Calibri" pitchFamily="34" charset="0"/>
                <a:ea typeface="Calibri" pitchFamily="34" charset="-122"/>
                <a:cs typeface="Calibri" pitchFamily="34" charset="-120"/>
              </a:rPr>
              <a:t>A FENCE ASKS</a:t>
            </a:r>
            <a:endParaRPr lang="en-US" sz="950" dirty="0"/>
          </a:p>
        </p:txBody>
      </p:sp>
      <p:sp>
        <p:nvSpPr>
          <p:cNvPr id="6" name="Text 4"/>
          <p:cNvSpPr/>
          <p:nvPr/>
        </p:nvSpPr>
        <p:spPr>
          <a:xfrm>
            <a:off x="896112" y="1993392"/>
            <a:ext cx="4759452" cy="310896"/>
          </a:xfrm>
          <a:prstGeom prst="rect">
            <a:avLst/>
          </a:prstGeom>
          <a:noFill/>
          <a:ln/>
        </p:spPr>
        <p:txBody>
          <a:bodyPr wrap="square" lIns="0" tIns="0" rIns="0" bIns="0" rtlCol="0" anchor="ctr"/>
          <a:lstStyle/>
          <a:p>
            <a:pPr indent="0" marL="0">
              <a:buNone/>
            </a:pPr>
            <a:r>
              <a:rPr lang="en-US" sz="1450" dirty="0">
                <a:solidFill>
                  <a:srgbClr val="BFD0E4"/>
                </a:solidFill>
                <a:latin typeface="Calibri" pitchFamily="34" charset="0"/>
                <a:ea typeface="Calibri" pitchFamily="34" charset="-122"/>
                <a:cs typeface="Calibri" pitchFamily="34" charset="-120"/>
              </a:rPr>
              <a:t>"Is this single action allowed?"</a:t>
            </a:r>
            <a:endParaRPr lang="en-US" sz="1450" dirty="0"/>
          </a:p>
        </p:txBody>
      </p:sp>
      <p:sp>
        <p:nvSpPr>
          <p:cNvPr id="7" name="Shape 5"/>
          <p:cNvSpPr/>
          <p:nvPr/>
        </p:nvSpPr>
        <p:spPr>
          <a:xfrm>
            <a:off x="6277356" y="1645920"/>
            <a:ext cx="5271516" cy="822960"/>
          </a:xfrm>
          <a:prstGeom prst="roundRect">
            <a:avLst>
              <a:gd name="adj" fmla="val 5556"/>
            </a:avLst>
          </a:prstGeom>
          <a:solidFill>
            <a:srgbClr val="081A31"/>
          </a:solidFill>
          <a:ln w="12700">
            <a:solidFill>
              <a:srgbClr val="C8A951"/>
            </a:solidFill>
            <a:prstDash val="solid"/>
          </a:ln>
        </p:spPr>
      </p:sp>
      <p:sp>
        <p:nvSpPr>
          <p:cNvPr id="8" name="Text 6"/>
          <p:cNvSpPr/>
          <p:nvPr/>
        </p:nvSpPr>
        <p:spPr>
          <a:xfrm>
            <a:off x="6533388" y="1755648"/>
            <a:ext cx="4759452" cy="219456"/>
          </a:xfrm>
          <a:prstGeom prst="rect">
            <a:avLst/>
          </a:prstGeom>
          <a:noFill/>
          <a:ln/>
        </p:spPr>
        <p:txBody>
          <a:bodyPr wrap="square" lIns="0" tIns="0" rIns="0" bIns="0" rtlCol="0" anchor="ctr"/>
          <a:lstStyle/>
          <a:p>
            <a:pPr indent="0" marL="0">
              <a:buNone/>
            </a:pPr>
            <a:r>
              <a:rPr lang="en-US" sz="950" b="1" spc="150" kern="0" dirty="0">
                <a:solidFill>
                  <a:srgbClr val="C8A951"/>
                </a:solidFill>
                <a:latin typeface="Calibri" pitchFamily="34" charset="0"/>
                <a:ea typeface="Calibri" pitchFamily="34" charset="-122"/>
                <a:cs typeface="Calibri" pitchFamily="34" charset="-120"/>
              </a:rPr>
              <a:t>AN UNDERWRITER ASKS</a:t>
            </a:r>
            <a:endParaRPr lang="en-US" sz="950" dirty="0"/>
          </a:p>
        </p:txBody>
      </p:sp>
      <p:sp>
        <p:nvSpPr>
          <p:cNvPr id="9" name="Text 7"/>
          <p:cNvSpPr/>
          <p:nvPr/>
        </p:nvSpPr>
        <p:spPr>
          <a:xfrm>
            <a:off x="6533388" y="1993392"/>
            <a:ext cx="475945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this agent's exposure, and who pays if it is wrong?"</a:t>
            </a:r>
            <a:endParaRPr lang="en-US" sz="1400" dirty="0"/>
          </a:p>
        </p:txBody>
      </p:sp>
      <p:sp>
        <p:nvSpPr>
          <p:cNvPr id="10" name="Shape 8"/>
          <p:cNvSpPr/>
          <p:nvPr/>
        </p:nvSpPr>
        <p:spPr>
          <a:xfrm>
            <a:off x="640080" y="2651760"/>
            <a:ext cx="2507742" cy="2907792"/>
          </a:xfrm>
          <a:prstGeom prst="roundRect">
            <a:avLst>
              <a:gd name="adj" fmla="val 1823"/>
            </a:avLst>
          </a:prstGeom>
          <a:solidFill>
            <a:srgbClr val="0F2A4A"/>
          </a:solidFill>
          <a:ln w="9525">
            <a:solidFill>
              <a:srgbClr val="1E4470"/>
            </a:solidFill>
            <a:prstDash val="solid"/>
          </a:ln>
        </p:spPr>
      </p:sp>
      <p:sp>
        <p:nvSpPr>
          <p:cNvPr id="11" name="Text 9"/>
          <p:cNvSpPr/>
          <p:nvPr/>
        </p:nvSpPr>
        <p:spPr>
          <a:xfrm>
            <a:off x="914400" y="2852928"/>
            <a:ext cx="1959102" cy="237744"/>
          </a:xfrm>
          <a:prstGeom prst="rect">
            <a:avLst/>
          </a:prstGeom>
          <a:noFill/>
          <a:ln/>
        </p:spPr>
        <p:txBody>
          <a:bodyPr wrap="square" lIns="0" tIns="0" rIns="0" bIns="0" rtlCol="0" anchor="ctr"/>
          <a:lstStyle/>
          <a:p>
            <a:pPr indent="0" marL="0">
              <a:buNone/>
            </a:pPr>
            <a:r>
              <a:rPr lang="en-US" sz="1000" b="1" spc="160" kern="0" dirty="0">
                <a:solidFill>
                  <a:srgbClr val="7E97B5"/>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914400" y="3090672"/>
            <a:ext cx="1959102"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SCORE</a:t>
            </a:r>
            <a:endParaRPr lang="en-US" sz="2100" dirty="0"/>
          </a:p>
        </p:txBody>
      </p:sp>
      <p:sp>
        <p:nvSpPr>
          <p:cNvPr id="13" name="Text 11"/>
          <p:cNvSpPr/>
          <p:nvPr/>
        </p:nvSpPr>
        <p:spPr>
          <a:xfrm>
            <a:off x="914400" y="3493008"/>
            <a:ext cx="1959102" cy="274320"/>
          </a:xfrm>
          <a:prstGeom prst="rect">
            <a:avLst/>
          </a:prstGeom>
          <a:noFill/>
          <a:ln/>
        </p:spPr>
        <p:txBody>
          <a:bodyPr wrap="square" lIns="0" tIns="0" rIns="0" bIns="0" rtlCol="0" anchor="ctr"/>
          <a:lstStyle/>
          <a:p>
            <a:pPr indent="0" marL="0">
              <a:buNone/>
            </a:pPr>
            <a:r>
              <a:rPr lang="en-US" sz="1250" b="1" dirty="0">
                <a:solidFill>
                  <a:srgbClr val="BFD0E4"/>
                </a:solidFill>
                <a:latin typeface="Calibri" pitchFamily="34" charset="0"/>
                <a:ea typeface="Calibri" pitchFamily="34" charset="-122"/>
                <a:cs typeface="Calibri" pitchFamily="34" charset="-120"/>
              </a:rPr>
              <a:t>Continuous risk scoring</a:t>
            </a:r>
            <a:endParaRPr lang="en-US" sz="1250" dirty="0"/>
          </a:p>
        </p:txBody>
      </p:sp>
      <p:sp>
        <p:nvSpPr>
          <p:cNvPr id="14" name="Text 12"/>
          <p:cNvSpPr/>
          <p:nvPr/>
        </p:nvSpPr>
        <p:spPr>
          <a:xfrm>
            <a:off x="914400" y="3803904"/>
            <a:ext cx="1959102" cy="109728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Every action re-scores the agent: intent deviation, baseline drift, category entropy, velocity.</a:t>
            </a:r>
            <a:endParaRPr lang="en-US" sz="1200" dirty="0"/>
          </a:p>
        </p:txBody>
      </p:sp>
      <p:sp>
        <p:nvSpPr>
          <p:cNvPr id="15" name="Shape 13"/>
          <p:cNvSpPr/>
          <p:nvPr/>
        </p:nvSpPr>
        <p:spPr>
          <a:xfrm>
            <a:off x="914400" y="4901184"/>
            <a:ext cx="1959102" cy="0"/>
          </a:xfrm>
          <a:prstGeom prst="line">
            <a:avLst/>
          </a:prstGeom>
          <a:noFill/>
          <a:ln w="9525">
            <a:solidFill>
              <a:srgbClr val="1E4470"/>
            </a:solidFill>
            <a:prstDash val="solid"/>
          </a:ln>
        </p:spPr>
      </p:sp>
      <p:sp>
        <p:nvSpPr>
          <p:cNvPr id="16" name="Text 14"/>
          <p:cNvSpPr/>
          <p:nvPr/>
        </p:nvSpPr>
        <p:spPr>
          <a:xfrm>
            <a:off x="914400" y="4974336"/>
            <a:ext cx="1959102" cy="502920"/>
          </a:xfrm>
          <a:prstGeom prst="rect">
            <a:avLst/>
          </a:prstGeom>
          <a:noFill/>
          <a:ln/>
        </p:spPr>
        <p:txBody>
          <a:bodyPr wrap="square" lIns="0" tIns="0" rIns="0" bIns="0" rtlCol="0" anchor="ctr"/>
          <a:lstStyle/>
          <a:p>
            <a:pPr indent="0" marL="0">
              <a:lnSpc>
                <a:spcPts val="1300"/>
              </a:lnSpc>
              <a:buNone/>
            </a:pPr>
            <a:r>
              <a:rPr lang="en-US" sz="1050" dirty="0">
                <a:solidFill>
                  <a:srgbClr val="7E97B5"/>
                </a:solidFill>
                <a:latin typeface="Calibri" pitchFamily="34" charset="0"/>
                <a:ea typeface="Calibri" pitchFamily="34" charset="-122"/>
                <a:cs typeface="Calibri" pitchFamily="34" charset="-120"/>
              </a:rPr>
              <a:t>XGBoost over a live Kafka feature stream</a:t>
            </a:r>
            <a:endParaRPr lang="en-US" sz="1050" dirty="0"/>
          </a:p>
        </p:txBody>
      </p:sp>
      <p:sp>
        <p:nvSpPr>
          <p:cNvPr id="17" name="Shape 15"/>
          <p:cNvSpPr/>
          <p:nvPr/>
        </p:nvSpPr>
        <p:spPr>
          <a:xfrm>
            <a:off x="3220974" y="4105656"/>
            <a:ext cx="146304" cy="0"/>
          </a:xfrm>
          <a:prstGeom prst="line">
            <a:avLst/>
          </a:prstGeom>
          <a:noFill/>
          <a:ln w="15875">
            <a:solidFill>
              <a:srgbClr val="1E4470"/>
            </a:solidFill>
            <a:prstDash val="solid"/>
            <a:tailEnd type="triangle"/>
          </a:ln>
        </p:spPr>
      </p:sp>
      <p:sp>
        <p:nvSpPr>
          <p:cNvPr id="18" name="Shape 16"/>
          <p:cNvSpPr/>
          <p:nvPr/>
        </p:nvSpPr>
        <p:spPr>
          <a:xfrm>
            <a:off x="3440430" y="2651760"/>
            <a:ext cx="2507742" cy="2907792"/>
          </a:xfrm>
          <a:prstGeom prst="roundRect">
            <a:avLst>
              <a:gd name="adj" fmla="val 1823"/>
            </a:avLst>
          </a:prstGeom>
          <a:solidFill>
            <a:srgbClr val="0F2A4A"/>
          </a:solidFill>
          <a:ln w="9525">
            <a:solidFill>
              <a:srgbClr val="1E4470"/>
            </a:solidFill>
            <a:prstDash val="solid"/>
          </a:ln>
        </p:spPr>
      </p:sp>
      <p:sp>
        <p:nvSpPr>
          <p:cNvPr id="19" name="Text 17"/>
          <p:cNvSpPr/>
          <p:nvPr/>
        </p:nvSpPr>
        <p:spPr>
          <a:xfrm>
            <a:off x="3714750" y="2852928"/>
            <a:ext cx="1959102" cy="237744"/>
          </a:xfrm>
          <a:prstGeom prst="rect">
            <a:avLst/>
          </a:prstGeom>
          <a:noFill/>
          <a:ln/>
        </p:spPr>
        <p:txBody>
          <a:bodyPr wrap="square" lIns="0" tIns="0" rIns="0" bIns="0" rtlCol="0" anchor="ctr"/>
          <a:lstStyle/>
          <a:p>
            <a:pPr indent="0" marL="0">
              <a:buNone/>
            </a:pPr>
            <a:r>
              <a:rPr lang="en-US" sz="1000" b="1" spc="160" kern="0" dirty="0">
                <a:solidFill>
                  <a:srgbClr val="7E97B5"/>
                </a:solidFill>
                <a:latin typeface="Calibri" pitchFamily="34" charset="0"/>
                <a:ea typeface="Calibri" pitchFamily="34" charset="-122"/>
                <a:cs typeface="Calibri" pitchFamily="34" charset="-120"/>
              </a:rPr>
              <a:t>02</a:t>
            </a:r>
            <a:endParaRPr lang="en-US" sz="1000" dirty="0"/>
          </a:p>
        </p:txBody>
      </p:sp>
      <p:sp>
        <p:nvSpPr>
          <p:cNvPr id="20" name="Text 18"/>
          <p:cNvSpPr/>
          <p:nvPr/>
        </p:nvSpPr>
        <p:spPr>
          <a:xfrm>
            <a:off x="3714750" y="3090672"/>
            <a:ext cx="1959102"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CAP</a:t>
            </a:r>
            <a:endParaRPr lang="en-US" sz="2100" dirty="0"/>
          </a:p>
        </p:txBody>
      </p:sp>
      <p:sp>
        <p:nvSpPr>
          <p:cNvPr id="21" name="Text 19"/>
          <p:cNvSpPr/>
          <p:nvPr/>
        </p:nvSpPr>
        <p:spPr>
          <a:xfrm>
            <a:off x="3714750" y="3493008"/>
            <a:ext cx="1959102" cy="274320"/>
          </a:xfrm>
          <a:prstGeom prst="rect">
            <a:avLst/>
          </a:prstGeom>
          <a:noFill/>
          <a:ln/>
        </p:spPr>
        <p:txBody>
          <a:bodyPr wrap="square" lIns="0" tIns="0" rIns="0" bIns="0" rtlCol="0" anchor="ctr"/>
          <a:lstStyle/>
          <a:p>
            <a:pPr indent="0" marL="0">
              <a:buNone/>
            </a:pPr>
            <a:r>
              <a:rPr lang="en-US" sz="1250" b="1" dirty="0">
                <a:solidFill>
                  <a:srgbClr val="BFD0E4"/>
                </a:solidFill>
                <a:latin typeface="Calibri" pitchFamily="34" charset="0"/>
                <a:ea typeface="Calibri" pitchFamily="34" charset="-122"/>
                <a:cs typeface="Calibri" pitchFamily="34" charset="-120"/>
              </a:rPr>
              <a:t>Dynamic exposure caps</a:t>
            </a:r>
            <a:endParaRPr lang="en-US" sz="1250" dirty="0"/>
          </a:p>
        </p:txBody>
      </p:sp>
      <p:sp>
        <p:nvSpPr>
          <p:cNvPr id="22" name="Text 20"/>
          <p:cNvSpPr/>
          <p:nvPr/>
        </p:nvSpPr>
        <p:spPr>
          <a:xfrm>
            <a:off x="3714750" y="3803904"/>
            <a:ext cx="1959102" cy="109728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The score sets the ceiling: per transaction, per merchant category, per window, recomputed live.</a:t>
            </a:r>
            <a:endParaRPr lang="en-US" sz="1200" dirty="0"/>
          </a:p>
        </p:txBody>
      </p:sp>
      <p:sp>
        <p:nvSpPr>
          <p:cNvPr id="23" name="Shape 21"/>
          <p:cNvSpPr/>
          <p:nvPr/>
        </p:nvSpPr>
        <p:spPr>
          <a:xfrm>
            <a:off x="3714750" y="4901184"/>
            <a:ext cx="1959102" cy="0"/>
          </a:xfrm>
          <a:prstGeom prst="line">
            <a:avLst/>
          </a:prstGeom>
          <a:noFill/>
          <a:ln w="9525">
            <a:solidFill>
              <a:srgbClr val="1E4470"/>
            </a:solidFill>
            <a:prstDash val="solid"/>
          </a:ln>
        </p:spPr>
      </p:sp>
      <p:sp>
        <p:nvSpPr>
          <p:cNvPr id="24" name="Text 22"/>
          <p:cNvSpPr/>
          <p:nvPr/>
        </p:nvSpPr>
        <p:spPr>
          <a:xfrm>
            <a:off x="3714750" y="4974336"/>
            <a:ext cx="1959102" cy="502920"/>
          </a:xfrm>
          <a:prstGeom prst="rect">
            <a:avLst/>
          </a:prstGeom>
          <a:noFill/>
          <a:ln/>
        </p:spPr>
        <p:txBody>
          <a:bodyPr wrap="square" lIns="0" tIns="0" rIns="0" bIns="0" rtlCol="0" anchor="ctr"/>
          <a:lstStyle/>
          <a:p>
            <a:pPr indent="0" marL="0">
              <a:lnSpc>
                <a:spcPts val="1300"/>
              </a:lnSpc>
              <a:buNone/>
            </a:pPr>
            <a:r>
              <a:rPr lang="en-US" sz="1050" dirty="0">
                <a:solidFill>
                  <a:srgbClr val="7E97B5"/>
                </a:solidFill>
                <a:latin typeface="Calibri" pitchFamily="34" charset="0"/>
                <a:ea typeface="Calibri" pitchFamily="34" charset="-122"/>
                <a:cs typeface="Calibri" pitchFamily="34" charset="-120"/>
              </a:rPr>
              <a:t>OPA policy + Redis token buckets</a:t>
            </a:r>
            <a:endParaRPr lang="en-US" sz="1050" dirty="0"/>
          </a:p>
        </p:txBody>
      </p:sp>
      <p:sp>
        <p:nvSpPr>
          <p:cNvPr id="25" name="Shape 23"/>
          <p:cNvSpPr/>
          <p:nvPr/>
        </p:nvSpPr>
        <p:spPr>
          <a:xfrm>
            <a:off x="6021324" y="4105656"/>
            <a:ext cx="146304" cy="0"/>
          </a:xfrm>
          <a:prstGeom prst="line">
            <a:avLst/>
          </a:prstGeom>
          <a:noFill/>
          <a:ln w="15875">
            <a:solidFill>
              <a:srgbClr val="1E4470"/>
            </a:solidFill>
            <a:prstDash val="solid"/>
            <a:tailEnd type="triangle"/>
          </a:ln>
        </p:spPr>
      </p:sp>
      <p:sp>
        <p:nvSpPr>
          <p:cNvPr id="26" name="Shape 24"/>
          <p:cNvSpPr/>
          <p:nvPr/>
        </p:nvSpPr>
        <p:spPr>
          <a:xfrm>
            <a:off x="6240780" y="2651760"/>
            <a:ext cx="2507742" cy="2907792"/>
          </a:xfrm>
          <a:prstGeom prst="roundRect">
            <a:avLst>
              <a:gd name="adj" fmla="val 1823"/>
            </a:avLst>
          </a:prstGeom>
          <a:solidFill>
            <a:srgbClr val="0F2A4A"/>
          </a:solidFill>
          <a:ln w="9525">
            <a:solidFill>
              <a:srgbClr val="1E4470"/>
            </a:solidFill>
            <a:prstDash val="solid"/>
          </a:ln>
        </p:spPr>
      </p:sp>
      <p:sp>
        <p:nvSpPr>
          <p:cNvPr id="27" name="Text 25"/>
          <p:cNvSpPr/>
          <p:nvPr/>
        </p:nvSpPr>
        <p:spPr>
          <a:xfrm>
            <a:off x="6515100" y="2852928"/>
            <a:ext cx="1959102" cy="237744"/>
          </a:xfrm>
          <a:prstGeom prst="rect">
            <a:avLst/>
          </a:prstGeom>
          <a:noFill/>
          <a:ln/>
        </p:spPr>
        <p:txBody>
          <a:bodyPr wrap="square" lIns="0" tIns="0" rIns="0" bIns="0" rtlCol="0" anchor="ctr"/>
          <a:lstStyle/>
          <a:p>
            <a:pPr indent="0" marL="0">
              <a:buNone/>
            </a:pPr>
            <a:r>
              <a:rPr lang="en-US" sz="1000" b="1" spc="160" kern="0" dirty="0">
                <a:solidFill>
                  <a:srgbClr val="7E97B5"/>
                </a:solidFill>
                <a:latin typeface="Calibri" pitchFamily="34" charset="0"/>
                <a:ea typeface="Calibri" pitchFamily="34" charset="-122"/>
                <a:cs typeface="Calibri" pitchFamily="34" charset="-120"/>
              </a:rPr>
              <a:t>03</a:t>
            </a:r>
            <a:endParaRPr lang="en-US" sz="1000" dirty="0"/>
          </a:p>
        </p:txBody>
      </p:sp>
      <p:sp>
        <p:nvSpPr>
          <p:cNvPr id="28" name="Text 26"/>
          <p:cNvSpPr/>
          <p:nvPr/>
        </p:nvSpPr>
        <p:spPr>
          <a:xfrm>
            <a:off x="6515100" y="3090672"/>
            <a:ext cx="1959102"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STOP</a:t>
            </a:r>
            <a:endParaRPr lang="en-US" sz="2100" dirty="0"/>
          </a:p>
        </p:txBody>
      </p:sp>
      <p:sp>
        <p:nvSpPr>
          <p:cNvPr id="29" name="Text 27"/>
          <p:cNvSpPr/>
          <p:nvPr/>
        </p:nvSpPr>
        <p:spPr>
          <a:xfrm>
            <a:off x="6515100" y="3493008"/>
            <a:ext cx="1959102" cy="274320"/>
          </a:xfrm>
          <a:prstGeom prst="rect">
            <a:avLst/>
          </a:prstGeom>
          <a:noFill/>
          <a:ln/>
        </p:spPr>
        <p:txBody>
          <a:bodyPr wrap="square" lIns="0" tIns="0" rIns="0" bIns="0" rtlCol="0" anchor="ctr"/>
          <a:lstStyle/>
          <a:p>
            <a:pPr indent="0" marL="0">
              <a:buNone/>
            </a:pPr>
            <a:r>
              <a:rPr lang="en-US" sz="1250" b="1" dirty="0">
                <a:solidFill>
                  <a:srgbClr val="BFD0E4"/>
                </a:solidFill>
                <a:latin typeface="Calibri" pitchFamily="34" charset="0"/>
                <a:ea typeface="Calibri" pitchFamily="34" charset="-122"/>
                <a:cs typeface="Calibri" pitchFamily="34" charset="-120"/>
              </a:rPr>
              <a:t>Circuit breakers</a:t>
            </a:r>
            <a:endParaRPr lang="en-US" sz="1250" dirty="0"/>
          </a:p>
        </p:txBody>
      </p:sp>
      <p:sp>
        <p:nvSpPr>
          <p:cNvPr id="30" name="Text 28"/>
          <p:cNvSpPr/>
          <p:nvPr/>
        </p:nvSpPr>
        <p:spPr>
          <a:xfrm>
            <a:off x="6515100" y="3803904"/>
            <a:ext cx="1959102" cy="109728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Revoke one agent, a class of agents, or the whole fleet. In-flight requests decline immediately.</a:t>
            </a:r>
            <a:endParaRPr lang="en-US" sz="1200" dirty="0"/>
          </a:p>
        </p:txBody>
      </p:sp>
      <p:sp>
        <p:nvSpPr>
          <p:cNvPr id="31" name="Shape 29"/>
          <p:cNvSpPr/>
          <p:nvPr/>
        </p:nvSpPr>
        <p:spPr>
          <a:xfrm>
            <a:off x="6515100" y="4901184"/>
            <a:ext cx="1959102" cy="0"/>
          </a:xfrm>
          <a:prstGeom prst="line">
            <a:avLst/>
          </a:prstGeom>
          <a:noFill/>
          <a:ln w="9525">
            <a:solidFill>
              <a:srgbClr val="1E4470"/>
            </a:solidFill>
            <a:prstDash val="solid"/>
          </a:ln>
        </p:spPr>
      </p:sp>
      <p:sp>
        <p:nvSpPr>
          <p:cNvPr id="32" name="Text 30"/>
          <p:cNvSpPr/>
          <p:nvPr/>
        </p:nvSpPr>
        <p:spPr>
          <a:xfrm>
            <a:off x="6515100" y="4974336"/>
            <a:ext cx="1959102" cy="502920"/>
          </a:xfrm>
          <a:prstGeom prst="rect">
            <a:avLst/>
          </a:prstGeom>
          <a:noFill/>
          <a:ln/>
        </p:spPr>
        <p:txBody>
          <a:bodyPr wrap="square" lIns="0" tIns="0" rIns="0" bIns="0" rtlCol="0" anchor="ctr"/>
          <a:lstStyle/>
          <a:p>
            <a:pPr indent="0" marL="0">
              <a:lnSpc>
                <a:spcPts val="1300"/>
              </a:lnSpc>
              <a:buNone/>
            </a:pPr>
            <a:r>
              <a:rPr lang="en-US" sz="1050" dirty="0">
                <a:solidFill>
                  <a:srgbClr val="7E97B5"/>
                </a:solidFill>
                <a:latin typeface="Calibri" pitchFamily="34" charset="0"/>
                <a:ea typeface="Calibri" pitchFamily="34" charset="-122"/>
                <a:cs typeface="Calibri" pitchFamily="34" charset="-120"/>
              </a:rPr>
              <a:t>Three-level breaker, millisecond propagation</a:t>
            </a:r>
            <a:endParaRPr lang="en-US" sz="1050" dirty="0"/>
          </a:p>
        </p:txBody>
      </p:sp>
      <p:sp>
        <p:nvSpPr>
          <p:cNvPr id="33" name="Shape 31"/>
          <p:cNvSpPr/>
          <p:nvPr/>
        </p:nvSpPr>
        <p:spPr>
          <a:xfrm>
            <a:off x="8821674" y="4105656"/>
            <a:ext cx="146304" cy="0"/>
          </a:xfrm>
          <a:prstGeom prst="line">
            <a:avLst/>
          </a:prstGeom>
          <a:noFill/>
          <a:ln w="15875">
            <a:solidFill>
              <a:srgbClr val="1E4470"/>
            </a:solidFill>
            <a:prstDash val="solid"/>
            <a:tailEnd type="triangle"/>
          </a:ln>
        </p:spPr>
      </p:sp>
      <p:sp>
        <p:nvSpPr>
          <p:cNvPr id="34" name="Shape 32"/>
          <p:cNvSpPr/>
          <p:nvPr/>
        </p:nvSpPr>
        <p:spPr>
          <a:xfrm>
            <a:off x="9041130" y="2651760"/>
            <a:ext cx="2507742" cy="2907792"/>
          </a:xfrm>
          <a:prstGeom prst="roundRect">
            <a:avLst>
              <a:gd name="adj" fmla="val 1823"/>
            </a:avLst>
          </a:prstGeom>
          <a:solidFill>
            <a:srgbClr val="0F2A4A"/>
          </a:solidFill>
          <a:ln w="12700">
            <a:solidFill>
              <a:srgbClr val="C8A951"/>
            </a:solidFill>
            <a:prstDash val="solid"/>
          </a:ln>
        </p:spPr>
      </p:sp>
      <p:sp>
        <p:nvSpPr>
          <p:cNvPr id="35" name="Text 33"/>
          <p:cNvSpPr/>
          <p:nvPr/>
        </p:nvSpPr>
        <p:spPr>
          <a:xfrm>
            <a:off x="9315450" y="2852928"/>
            <a:ext cx="1959102" cy="237744"/>
          </a:xfrm>
          <a:prstGeom prst="rect">
            <a:avLst/>
          </a:prstGeom>
          <a:noFill/>
          <a:ln/>
        </p:spPr>
        <p:txBody>
          <a:bodyPr wrap="square" lIns="0" tIns="0" rIns="0" bIns="0" rtlCol="0" anchor="ctr"/>
          <a:lstStyle/>
          <a:p>
            <a:pPr indent="0" marL="0">
              <a:buNone/>
            </a:pPr>
            <a:r>
              <a:rPr lang="en-US" sz="1000" b="1" spc="160" kern="0" dirty="0">
                <a:solidFill>
                  <a:srgbClr val="C8A951"/>
                </a:solidFill>
                <a:latin typeface="Calibri" pitchFamily="34" charset="0"/>
                <a:ea typeface="Calibri" pitchFamily="34" charset="-122"/>
                <a:cs typeface="Calibri" pitchFamily="34" charset="-120"/>
              </a:rPr>
              <a:t>04</a:t>
            </a:r>
            <a:endParaRPr lang="en-US" sz="1000" dirty="0"/>
          </a:p>
        </p:txBody>
      </p:sp>
      <p:sp>
        <p:nvSpPr>
          <p:cNvPr id="36" name="Text 34"/>
          <p:cNvSpPr/>
          <p:nvPr/>
        </p:nvSpPr>
        <p:spPr>
          <a:xfrm>
            <a:off x="9315450" y="3090672"/>
            <a:ext cx="1959102" cy="384048"/>
          </a:xfrm>
          <a:prstGeom prst="rect">
            <a:avLst/>
          </a:prstGeom>
          <a:noFill/>
          <a:ln/>
        </p:spPr>
        <p:txBody>
          <a:bodyPr wrap="square" lIns="0" tIns="0" rIns="0" bIns="0" rtlCol="0" anchor="ctr"/>
          <a:lstStyle/>
          <a:p>
            <a:pPr indent="0" marL="0">
              <a:buNone/>
            </a:pPr>
            <a:r>
              <a:rPr lang="en-US" sz="2100" b="1" dirty="0">
                <a:solidFill>
                  <a:srgbClr val="C8A951"/>
                </a:solidFill>
                <a:latin typeface="Cambria" pitchFamily="34" charset="0"/>
                <a:ea typeface="Cambria" pitchFamily="34" charset="-122"/>
                <a:cs typeface="Cambria" pitchFamily="34" charset="-120"/>
              </a:rPr>
              <a:t>PROVE</a:t>
            </a:r>
            <a:endParaRPr lang="en-US" sz="2100" dirty="0"/>
          </a:p>
        </p:txBody>
      </p:sp>
      <p:sp>
        <p:nvSpPr>
          <p:cNvPr id="37" name="Text 35"/>
          <p:cNvSpPr/>
          <p:nvPr/>
        </p:nvSpPr>
        <p:spPr>
          <a:xfrm>
            <a:off x="9315450" y="3493008"/>
            <a:ext cx="1959102" cy="274320"/>
          </a:xfrm>
          <a:prstGeom prst="rect">
            <a:avLst/>
          </a:prstGeom>
          <a:noFill/>
          <a:ln/>
        </p:spPr>
        <p:txBody>
          <a:bodyPr wrap="square" lIns="0" tIns="0" rIns="0" bIns="0" rtlCol="0" anchor="ctr"/>
          <a:lstStyle/>
          <a:p>
            <a:pPr indent="0" marL="0">
              <a:buNone/>
            </a:pPr>
            <a:r>
              <a:rPr lang="en-US" sz="1250" b="1" dirty="0">
                <a:solidFill>
                  <a:srgbClr val="BFD0E4"/>
                </a:solidFill>
                <a:latin typeface="Calibri" pitchFamily="34" charset="0"/>
                <a:ea typeface="Calibri" pitchFamily="34" charset="-122"/>
                <a:cs typeface="Calibri" pitchFamily="34" charset="-120"/>
              </a:rPr>
              <a:t>Claims-grade evidence</a:t>
            </a:r>
            <a:endParaRPr lang="en-US" sz="1250" dirty="0"/>
          </a:p>
        </p:txBody>
      </p:sp>
      <p:sp>
        <p:nvSpPr>
          <p:cNvPr id="38" name="Text 36"/>
          <p:cNvSpPr/>
          <p:nvPr/>
        </p:nvSpPr>
        <p:spPr>
          <a:xfrm>
            <a:off x="9315450" y="3803904"/>
            <a:ext cx="1959102" cy="109728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Each breach assembles intent, cart, merchant and decision trail into a filable Claims Package.</a:t>
            </a:r>
            <a:endParaRPr lang="en-US" sz="1200" dirty="0"/>
          </a:p>
        </p:txBody>
      </p:sp>
      <p:sp>
        <p:nvSpPr>
          <p:cNvPr id="39" name="Shape 37"/>
          <p:cNvSpPr/>
          <p:nvPr/>
        </p:nvSpPr>
        <p:spPr>
          <a:xfrm>
            <a:off x="9315450" y="4901184"/>
            <a:ext cx="1959102" cy="0"/>
          </a:xfrm>
          <a:prstGeom prst="line">
            <a:avLst/>
          </a:prstGeom>
          <a:noFill/>
          <a:ln w="9525">
            <a:solidFill>
              <a:srgbClr val="1E4470"/>
            </a:solidFill>
            <a:prstDash val="solid"/>
          </a:ln>
        </p:spPr>
      </p:sp>
      <p:sp>
        <p:nvSpPr>
          <p:cNvPr id="40" name="Text 38"/>
          <p:cNvSpPr/>
          <p:nvPr/>
        </p:nvSpPr>
        <p:spPr>
          <a:xfrm>
            <a:off x="9315450" y="4974336"/>
            <a:ext cx="1959102" cy="502920"/>
          </a:xfrm>
          <a:prstGeom prst="rect">
            <a:avLst/>
          </a:prstGeom>
          <a:noFill/>
          <a:ln/>
        </p:spPr>
        <p:txBody>
          <a:bodyPr wrap="square" lIns="0" tIns="0" rIns="0" bIns="0" rtlCol="0" anchor="ctr"/>
          <a:lstStyle/>
          <a:p>
            <a:pPr indent="0" marL="0">
              <a:lnSpc>
                <a:spcPts val="1300"/>
              </a:lnSpc>
              <a:buNone/>
            </a:pPr>
            <a:r>
              <a:rPr lang="en-US" sz="1050" dirty="0">
                <a:solidFill>
                  <a:srgbClr val="7E97B5"/>
                </a:solidFill>
                <a:latin typeface="Calibri" pitchFamily="34" charset="0"/>
                <a:ea typeface="Calibri" pitchFamily="34" charset="-122"/>
                <a:cs typeface="Calibri" pitchFamily="34" charset="-120"/>
              </a:rPr>
              <a:t>Hash-chained audit in PostgreSQL</a:t>
            </a:r>
            <a:endParaRPr lang="en-US" sz="1050" dirty="0"/>
          </a:p>
        </p:txBody>
      </p:sp>
      <p:sp>
        <p:nvSpPr>
          <p:cNvPr id="41" name="Text 39"/>
          <p:cNvSpPr/>
          <p:nvPr/>
        </p:nvSpPr>
        <p:spPr>
          <a:xfrm>
            <a:off x="640080" y="5742432"/>
            <a:ext cx="10908792" cy="329184"/>
          </a:xfrm>
          <a:prstGeom prst="rect">
            <a:avLst/>
          </a:prstGeom>
          <a:noFill/>
          <a:ln/>
        </p:spPr>
        <p:txBody>
          <a:bodyPr wrap="square" lIns="0" tIns="0" rIns="0" bIns="0" rtlCol="0" anchor="ctr"/>
          <a:lstStyle/>
          <a:p>
            <a:pPr indent="0" marL="0">
              <a:buNone/>
            </a:pPr>
            <a:r>
              <a:rPr lang="en-US" sz="1700" b="1" i="1" dirty="0">
                <a:solidFill>
                  <a:srgbClr val="C8A951"/>
                </a:solidFill>
                <a:latin typeface="Cambria" pitchFamily="34" charset="0"/>
                <a:ea typeface="Cambria" pitchFamily="34" charset="-122"/>
                <a:cs typeface="Cambria" pitchFamily="34" charset="-120"/>
              </a:rPr>
              <a:t>Underwriting, not just enforcement.</a:t>
            </a:r>
            <a:endParaRPr lang="en-US" sz="1700" dirty="0"/>
          </a:p>
        </p:txBody>
      </p:sp>
      <p:sp>
        <p:nvSpPr>
          <p:cNvPr id="42" name="Text 40"/>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43" name="Text 41"/>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03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LIVE SCENARIO</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 Agent Error, Resolved in Seconds</a:t>
            </a:r>
            <a:endParaRPr lang="en-US" sz="3400" dirty="0"/>
          </a:p>
        </p:txBody>
      </p:sp>
      <p:pic>
        <p:nvPicPr>
          <p:cNvPr id="4" name="Image 0" descr="/sessions/dreamy-epic-faraday/mnt/outputs/img_demo.png">    </p:cNvPr>
          <p:cNvPicPr>
            <a:picLocks noChangeAspect="1"/>
          </p:cNvPicPr>
          <p:nvPr/>
        </p:nvPicPr>
        <p:blipFill>
          <a:blip r:embed="rId1"/>
          <a:stretch>
            <a:fillRect/>
          </a:stretch>
        </p:blipFill>
        <p:spPr>
          <a:xfrm>
            <a:off x="640080" y="1426464"/>
            <a:ext cx="6903720" cy="3883343"/>
          </a:xfrm>
          <a:prstGeom prst="rect">
            <a:avLst/>
          </a:prstGeom>
        </p:spPr>
      </p:pic>
      <p:sp>
        <p:nvSpPr>
          <p:cNvPr id="5" name="Shape 2"/>
          <p:cNvSpPr/>
          <p:nvPr/>
        </p:nvSpPr>
        <p:spPr>
          <a:xfrm>
            <a:off x="640080" y="1426464"/>
            <a:ext cx="6903720" cy="3883343"/>
          </a:xfrm>
          <a:prstGeom prst="rect">
            <a:avLst/>
          </a:prstGeom>
          <a:solidFill>
            <a:srgbClr val="0B1F3A">
              <a:alpha val="0"/>
            </a:srgbClr>
          </a:solidFill>
          <a:ln w="12700">
            <a:solidFill>
              <a:srgbClr val="C8A951"/>
            </a:solidFill>
            <a:prstDash val="solid"/>
          </a:ln>
        </p:spPr>
      </p:sp>
      <p:sp>
        <p:nvSpPr>
          <p:cNvPr id="6" name="Text 3"/>
          <p:cNvSpPr/>
          <p:nvPr/>
        </p:nvSpPr>
        <p:spPr>
          <a:xfrm>
            <a:off x="640080" y="5376672"/>
            <a:ext cx="10908792" cy="237744"/>
          </a:xfrm>
          <a:prstGeom prst="rect">
            <a:avLst/>
          </a:prstGeom>
          <a:noFill/>
          <a:ln/>
        </p:spPr>
        <p:txBody>
          <a:bodyPr wrap="square" lIns="0" tIns="0" rIns="0" bIns="0" rtlCol="0" anchor="ctr"/>
          <a:lstStyle/>
          <a:p>
            <a:pPr indent="0" marL="0">
              <a:buNone/>
            </a:pPr>
            <a:r>
              <a:rPr lang="en-US" sz="1200" b="1" dirty="0">
                <a:solidFill>
                  <a:srgbClr val="C8A951"/>
                </a:solidFill>
                <a:latin typeface="Calibri" pitchFamily="34" charset="0"/>
                <a:ea typeface="Calibri" pitchFamily="34" charset="-122"/>
                <a:cs typeface="Calibri" pitchFamily="34" charset="-120"/>
              </a:rPr>
              <a:t>Claims Package = the investigation engine </a:t>
            </a:r>
            <a:pPr indent="0" marL="0">
              <a:buNone/>
            </a:pPr>
            <a:r>
              <a:rPr lang="en-US" sz="1200" dirty="0">
                <a:solidFill>
                  <a:srgbClr val="BFD0E4"/>
                </a:solidFill>
                <a:latin typeface="Calibri" pitchFamily="34" charset="0"/>
                <a:ea typeface="Calibri" pitchFamily="34" charset="-122"/>
                <a:cs typeface="Calibri" pitchFamily="34" charset="-120"/>
              </a:rPr>
              <a:t>that turns Amex's protection promise into closed-loop, evidence-backed resolution.</a:t>
            </a:r>
            <a:endParaRPr lang="en-US" sz="1200" dirty="0"/>
          </a:p>
        </p:txBody>
      </p:sp>
      <p:sp>
        <p:nvSpPr>
          <p:cNvPr id="7" name="Shape 4"/>
          <p:cNvSpPr/>
          <p:nvPr/>
        </p:nvSpPr>
        <p:spPr>
          <a:xfrm>
            <a:off x="640080" y="5669280"/>
            <a:ext cx="5317236" cy="402336"/>
          </a:xfrm>
          <a:prstGeom prst="roundRect">
            <a:avLst>
              <a:gd name="adj" fmla="val 11364"/>
            </a:avLst>
          </a:prstGeom>
          <a:solidFill>
            <a:srgbClr val="081A31"/>
          </a:solidFill>
          <a:ln w="9525">
            <a:solidFill>
              <a:srgbClr val="8894A6"/>
            </a:solidFill>
            <a:prstDash val="solid"/>
          </a:ln>
        </p:spPr>
      </p:sp>
      <p:sp>
        <p:nvSpPr>
          <p:cNvPr id="8" name="Text 5"/>
          <p:cNvSpPr/>
          <p:nvPr/>
        </p:nvSpPr>
        <p:spPr>
          <a:xfrm>
            <a:off x="877824" y="5669280"/>
            <a:ext cx="4841748" cy="402336"/>
          </a:xfrm>
          <a:prstGeom prst="rect">
            <a:avLst/>
          </a:prstGeom>
          <a:noFill/>
          <a:ln/>
        </p:spPr>
        <p:txBody>
          <a:bodyPr wrap="square" lIns="0" tIns="0" rIns="0" bIns="0" rtlCol="0" anchor="ctr"/>
          <a:lstStyle/>
          <a:p>
            <a:pPr indent="0" marL="0">
              <a:buNone/>
            </a:pPr>
            <a:r>
              <a:rPr lang="en-US" sz="1250" b="1" dirty="0">
                <a:solidFill>
                  <a:srgbClr val="8894A6"/>
                </a:solidFill>
                <a:latin typeface="Calibri" pitchFamily="34" charset="0"/>
                <a:ea typeface="Calibri" pitchFamily="34" charset="-122"/>
                <a:cs typeface="Calibri" pitchFamily="34" charset="-120"/>
              </a:rPr>
              <a:t>Manual:  </a:t>
            </a:r>
            <a:pPr indent="0" marL="0">
              <a:buNone/>
            </a:pPr>
            <a:r>
              <a:rPr lang="en-US" sz="1250" dirty="0">
                <a:solidFill>
                  <a:srgbClr val="BFD0E4"/>
                </a:solidFill>
                <a:latin typeface="Calibri" pitchFamily="34" charset="0"/>
                <a:ea typeface="Calibri" pitchFamily="34" charset="-122"/>
                <a:cs typeface="Calibri" pitchFamily="34" charset="-120"/>
              </a:rPr>
              <a:t>7-14 evidence sources, several days</a:t>
            </a:r>
            <a:endParaRPr lang="en-US" sz="1250" dirty="0"/>
          </a:p>
        </p:txBody>
      </p:sp>
      <p:sp>
        <p:nvSpPr>
          <p:cNvPr id="9" name="Shape 6"/>
          <p:cNvSpPr/>
          <p:nvPr/>
        </p:nvSpPr>
        <p:spPr>
          <a:xfrm>
            <a:off x="6231636" y="5669280"/>
            <a:ext cx="5317236" cy="402336"/>
          </a:xfrm>
          <a:prstGeom prst="roundRect">
            <a:avLst>
              <a:gd name="adj" fmla="val 11364"/>
            </a:avLst>
          </a:prstGeom>
          <a:solidFill>
            <a:srgbClr val="081A31"/>
          </a:solidFill>
          <a:ln w="12700">
            <a:solidFill>
              <a:srgbClr val="C8A951"/>
            </a:solidFill>
            <a:prstDash val="solid"/>
          </a:ln>
        </p:spPr>
      </p:sp>
      <p:sp>
        <p:nvSpPr>
          <p:cNvPr id="10" name="Text 7"/>
          <p:cNvSpPr/>
          <p:nvPr/>
        </p:nvSpPr>
        <p:spPr>
          <a:xfrm>
            <a:off x="6469380" y="5669280"/>
            <a:ext cx="4841748" cy="402336"/>
          </a:xfrm>
          <a:prstGeom prst="rect">
            <a:avLst/>
          </a:prstGeom>
          <a:noFill/>
          <a:ln/>
        </p:spPr>
        <p:txBody>
          <a:bodyPr wrap="square" lIns="0" tIns="0" rIns="0" bIns="0" rtlCol="0" anchor="ctr"/>
          <a:lstStyle/>
          <a:p>
            <a:pPr indent="0" marL="0">
              <a:buNone/>
            </a:pPr>
            <a:r>
              <a:rPr lang="en-US" sz="1250" b="1" dirty="0">
                <a:solidFill>
                  <a:srgbClr val="C8A951"/>
                </a:solidFill>
                <a:latin typeface="Calibri" pitchFamily="34" charset="0"/>
                <a:ea typeface="Calibri" pitchFamily="34" charset="-122"/>
                <a:cs typeface="Calibri" pitchFamily="34" charset="-120"/>
              </a:rPr>
              <a:t>SURETY:  </a:t>
            </a:r>
            <a:pPr indent="0" marL="0">
              <a:buNone/>
            </a:pPr>
            <a:r>
              <a:rPr lang="en-US" sz="1250" b="1" dirty="0">
                <a:solidFill>
                  <a:srgbClr val="FFFFFF"/>
                </a:solidFill>
                <a:latin typeface="Calibri" pitchFamily="34" charset="0"/>
                <a:ea typeface="Calibri" pitchFamily="34" charset="-122"/>
                <a:cs typeface="Calibri" pitchFamily="34" charset="-120"/>
              </a:rPr>
              <a:t>1 Claims Package, 2.3 seconds</a:t>
            </a:r>
            <a:endParaRPr lang="en-US" sz="1250" dirty="0"/>
          </a:p>
        </p:txBody>
      </p:sp>
      <p:sp>
        <p:nvSpPr>
          <p:cNvPr id="11" name="Text 8"/>
          <p:cNvSpPr/>
          <p:nvPr/>
        </p:nvSpPr>
        <p:spPr>
          <a:xfrm>
            <a:off x="640080" y="6108192"/>
            <a:ext cx="10908792" cy="219456"/>
          </a:xfrm>
          <a:prstGeom prst="rect">
            <a:avLst/>
          </a:prstGeom>
          <a:noFill/>
          <a:ln/>
        </p:spPr>
        <p:txBody>
          <a:bodyPr wrap="square" lIns="0" tIns="0" rIns="0" bIns="0" rtlCol="0" anchor="ctr"/>
          <a:lstStyle/>
          <a:p>
            <a:pPr algn="ctr" indent="0" marL="0">
              <a:buNone/>
            </a:pPr>
            <a:r>
              <a:rPr lang="en-US" sz="900" i="1" dirty="0">
                <a:solidFill>
                  <a:srgbClr val="6B85A3"/>
                </a:solidFill>
                <a:latin typeface="Calibri" pitchFamily="34" charset="0"/>
                <a:ea typeface="Calibri" pitchFamily="34" charset="-122"/>
                <a:cs typeface="Calibri" pitchFamily="34" charset="-120"/>
              </a:rPr>
              <a:t>Conceptual comparison - illustrative</a:t>
            </a:r>
            <a:endParaRPr lang="en-US" sz="900" dirty="0"/>
          </a:p>
        </p:txBody>
      </p:sp>
      <p:sp>
        <p:nvSpPr>
          <p:cNvPr id="12" name="Shape 9"/>
          <p:cNvSpPr/>
          <p:nvPr/>
        </p:nvSpPr>
        <p:spPr>
          <a:xfrm>
            <a:off x="7909560" y="1426464"/>
            <a:ext cx="3639312" cy="1207008"/>
          </a:xfrm>
          <a:prstGeom prst="roundRect">
            <a:avLst>
              <a:gd name="adj" fmla="val 3788"/>
            </a:avLst>
          </a:prstGeom>
          <a:solidFill>
            <a:srgbClr val="0F2A4A"/>
          </a:solidFill>
          <a:ln w="9525">
            <a:solidFill>
              <a:srgbClr val="1E4470"/>
            </a:solidFill>
            <a:prstDash val="solid"/>
          </a:ln>
        </p:spPr>
      </p:sp>
      <p:sp>
        <p:nvSpPr>
          <p:cNvPr id="13" name="Text 10"/>
          <p:cNvSpPr/>
          <p:nvPr/>
        </p:nvSpPr>
        <p:spPr>
          <a:xfrm>
            <a:off x="8129016" y="1572768"/>
            <a:ext cx="3200400" cy="219456"/>
          </a:xfrm>
          <a:prstGeom prst="rect">
            <a:avLst/>
          </a:prstGeom>
          <a:noFill/>
          <a:ln/>
        </p:spPr>
        <p:txBody>
          <a:bodyPr wrap="square" lIns="0" tIns="0" rIns="0" bIns="0" rtlCol="0" anchor="ctr"/>
          <a:lstStyle/>
          <a:p>
            <a:pPr indent="0" marL="0">
              <a:buNone/>
            </a:pPr>
            <a:r>
              <a:rPr lang="en-US" sz="950" b="1" spc="160" kern="0" dirty="0">
                <a:solidFill>
                  <a:srgbClr val="7E97B5"/>
                </a:solidFill>
                <a:latin typeface="Calibri" pitchFamily="34" charset="0"/>
                <a:ea typeface="Calibri" pitchFamily="34" charset="-122"/>
                <a:cs typeface="Calibri" pitchFamily="34" charset="-120"/>
              </a:rPr>
              <a:t>DETECTED</a:t>
            </a:r>
            <a:endParaRPr lang="en-US" sz="950" dirty="0"/>
          </a:p>
        </p:txBody>
      </p:sp>
      <p:sp>
        <p:nvSpPr>
          <p:cNvPr id="14" name="Text 11"/>
          <p:cNvSpPr/>
          <p:nvPr/>
        </p:nvSpPr>
        <p:spPr>
          <a:xfrm>
            <a:off x="8129016" y="1810512"/>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Caught in-flight</a:t>
            </a:r>
            <a:endParaRPr lang="en-US" sz="1500" dirty="0"/>
          </a:p>
        </p:txBody>
      </p:sp>
      <p:sp>
        <p:nvSpPr>
          <p:cNvPr id="15" name="Text 12"/>
          <p:cNvSpPr/>
          <p:nvPr/>
        </p:nvSpPr>
        <p:spPr>
          <a:xfrm>
            <a:off x="8129016" y="2139696"/>
            <a:ext cx="3200400" cy="365760"/>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68% over the stated ceiling and outside the stated category, scored before the charge settles.</a:t>
            </a:r>
            <a:endParaRPr lang="en-US" sz="1150" dirty="0"/>
          </a:p>
        </p:txBody>
      </p:sp>
      <p:sp>
        <p:nvSpPr>
          <p:cNvPr id="16" name="Shape 13"/>
          <p:cNvSpPr/>
          <p:nvPr/>
        </p:nvSpPr>
        <p:spPr>
          <a:xfrm>
            <a:off x="7909560" y="2761488"/>
            <a:ext cx="3639312" cy="1207008"/>
          </a:xfrm>
          <a:prstGeom prst="roundRect">
            <a:avLst>
              <a:gd name="adj" fmla="val 3788"/>
            </a:avLst>
          </a:prstGeom>
          <a:solidFill>
            <a:srgbClr val="0F2A4A"/>
          </a:solidFill>
          <a:ln w="9525">
            <a:solidFill>
              <a:srgbClr val="1E4470"/>
            </a:solidFill>
            <a:prstDash val="solid"/>
          </a:ln>
        </p:spPr>
      </p:sp>
      <p:sp>
        <p:nvSpPr>
          <p:cNvPr id="17" name="Text 14"/>
          <p:cNvSpPr/>
          <p:nvPr/>
        </p:nvSpPr>
        <p:spPr>
          <a:xfrm>
            <a:off x="8129016" y="2907792"/>
            <a:ext cx="3200400" cy="219456"/>
          </a:xfrm>
          <a:prstGeom prst="rect">
            <a:avLst/>
          </a:prstGeom>
          <a:noFill/>
          <a:ln/>
        </p:spPr>
        <p:txBody>
          <a:bodyPr wrap="square" lIns="0" tIns="0" rIns="0" bIns="0" rtlCol="0" anchor="ctr"/>
          <a:lstStyle/>
          <a:p>
            <a:pPr indent="0" marL="0">
              <a:buNone/>
            </a:pPr>
            <a:r>
              <a:rPr lang="en-US" sz="950" b="1" spc="160" kern="0" dirty="0">
                <a:solidFill>
                  <a:srgbClr val="7E97B5"/>
                </a:solidFill>
                <a:latin typeface="Calibri" pitchFamily="34" charset="0"/>
                <a:ea typeface="Calibri" pitchFamily="34" charset="-122"/>
                <a:cs typeface="Calibri" pitchFamily="34" charset="-120"/>
              </a:rPr>
              <a:t>PROTECTED</a:t>
            </a:r>
            <a:endParaRPr lang="en-US" sz="950" dirty="0"/>
          </a:p>
        </p:txBody>
      </p:sp>
      <p:sp>
        <p:nvSpPr>
          <p:cNvPr id="18" name="Text 15"/>
          <p:cNvSpPr/>
          <p:nvPr/>
        </p:nvSpPr>
        <p:spPr>
          <a:xfrm>
            <a:off x="8129016" y="3145536"/>
            <a:ext cx="320040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Protection triggered</a:t>
            </a:r>
            <a:endParaRPr lang="en-US" sz="1500" dirty="0"/>
          </a:p>
        </p:txBody>
      </p:sp>
      <p:sp>
        <p:nvSpPr>
          <p:cNvPr id="19" name="Text 16"/>
          <p:cNvSpPr/>
          <p:nvPr/>
        </p:nvSpPr>
        <p:spPr>
          <a:xfrm>
            <a:off x="8129016" y="3474720"/>
            <a:ext cx="3200400" cy="365760"/>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Agent Purchase Protection applied automatically. Card Member liability set to zero.</a:t>
            </a:r>
            <a:endParaRPr lang="en-US" sz="1150" dirty="0"/>
          </a:p>
        </p:txBody>
      </p:sp>
      <p:sp>
        <p:nvSpPr>
          <p:cNvPr id="20" name="Shape 17"/>
          <p:cNvSpPr/>
          <p:nvPr/>
        </p:nvSpPr>
        <p:spPr>
          <a:xfrm>
            <a:off x="7909560" y="4096512"/>
            <a:ext cx="3639312" cy="1207008"/>
          </a:xfrm>
          <a:prstGeom prst="roundRect">
            <a:avLst>
              <a:gd name="adj" fmla="val 3788"/>
            </a:avLst>
          </a:prstGeom>
          <a:solidFill>
            <a:srgbClr val="081A31"/>
          </a:solidFill>
          <a:ln w="12700">
            <a:solidFill>
              <a:srgbClr val="C8A951"/>
            </a:solidFill>
            <a:prstDash val="solid"/>
          </a:ln>
        </p:spPr>
      </p:sp>
      <p:sp>
        <p:nvSpPr>
          <p:cNvPr id="21" name="Text 18"/>
          <p:cNvSpPr/>
          <p:nvPr/>
        </p:nvSpPr>
        <p:spPr>
          <a:xfrm>
            <a:off x="8129016" y="4242816"/>
            <a:ext cx="3200400" cy="219456"/>
          </a:xfrm>
          <a:prstGeom prst="rect">
            <a:avLst/>
          </a:prstGeom>
          <a:noFill/>
          <a:ln/>
        </p:spPr>
        <p:txBody>
          <a:bodyPr wrap="square" lIns="0" tIns="0" rIns="0" bIns="0" rtlCol="0" anchor="ctr"/>
          <a:lstStyle/>
          <a:p>
            <a:pPr indent="0" marL="0">
              <a:buNone/>
            </a:pPr>
            <a:r>
              <a:rPr lang="en-US" sz="950" b="1" spc="160" kern="0" dirty="0">
                <a:solidFill>
                  <a:srgbClr val="C8A951"/>
                </a:solidFill>
                <a:latin typeface="Calibri" pitchFamily="34" charset="0"/>
                <a:ea typeface="Calibri" pitchFamily="34" charset="-122"/>
                <a:cs typeface="Calibri" pitchFamily="34" charset="-120"/>
              </a:rPr>
              <a:t>PROVEN</a:t>
            </a:r>
            <a:endParaRPr lang="en-US" sz="950" dirty="0"/>
          </a:p>
        </p:txBody>
      </p:sp>
      <p:sp>
        <p:nvSpPr>
          <p:cNvPr id="22" name="Text 19"/>
          <p:cNvSpPr/>
          <p:nvPr/>
        </p:nvSpPr>
        <p:spPr>
          <a:xfrm>
            <a:off x="8129016" y="4480560"/>
            <a:ext cx="3200400" cy="310896"/>
          </a:xfrm>
          <a:prstGeom prst="rect">
            <a:avLst/>
          </a:prstGeom>
          <a:noFill/>
          <a:ln/>
        </p:spPr>
        <p:txBody>
          <a:bodyPr wrap="square" lIns="0" tIns="0" rIns="0" bIns="0" rtlCol="0" anchor="ctr"/>
          <a:lstStyle/>
          <a:p>
            <a:pPr indent="0" marL="0">
              <a:buNone/>
            </a:pPr>
            <a:r>
              <a:rPr lang="en-US" sz="1500" b="1" dirty="0">
                <a:solidFill>
                  <a:srgbClr val="C8A951"/>
                </a:solidFill>
                <a:latin typeface="Calibri" pitchFamily="34" charset="0"/>
                <a:ea typeface="Calibri" pitchFamily="34" charset="-122"/>
                <a:cs typeface="Calibri" pitchFamily="34" charset="-120"/>
              </a:rPr>
              <a:t>Claims Package filed</a:t>
            </a:r>
            <a:endParaRPr lang="en-US" sz="1500" dirty="0"/>
          </a:p>
        </p:txBody>
      </p:sp>
      <p:sp>
        <p:nvSpPr>
          <p:cNvPr id="23" name="Text 20"/>
          <p:cNvSpPr/>
          <p:nvPr/>
        </p:nvSpPr>
        <p:spPr>
          <a:xfrm>
            <a:off x="8129016" y="4809744"/>
            <a:ext cx="3200400" cy="365760"/>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Investigation engine: intent, cart, merchant and decision trail in 2.3 seconds. Agent capped to ₹15,000.</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TRANSPARENCY</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Underwriting You Can Interrogate</a:t>
            </a:r>
            <a:endParaRPr lang="en-US" sz="3400" dirty="0"/>
          </a:p>
        </p:txBody>
      </p:sp>
      <p:pic>
        <p:nvPicPr>
          <p:cNvPr id="4" name="Image 0" descr="/sessions/dreamy-epic-faraday/mnt/outputs/img_cf.png">    </p:cNvPr>
          <p:cNvPicPr>
            <a:picLocks noChangeAspect="1"/>
          </p:cNvPicPr>
          <p:nvPr/>
        </p:nvPicPr>
        <p:blipFill>
          <a:blip r:embed="rId1"/>
          <a:stretch>
            <a:fillRect/>
          </a:stretch>
        </p:blipFill>
        <p:spPr>
          <a:xfrm>
            <a:off x="1202436" y="1463040"/>
            <a:ext cx="9784080" cy="4076700"/>
          </a:xfrm>
          <a:prstGeom prst="rect">
            <a:avLst/>
          </a:prstGeom>
        </p:spPr>
      </p:pic>
      <p:sp>
        <p:nvSpPr>
          <p:cNvPr id="5" name="Shape 2"/>
          <p:cNvSpPr/>
          <p:nvPr/>
        </p:nvSpPr>
        <p:spPr>
          <a:xfrm>
            <a:off x="1202436" y="1463040"/>
            <a:ext cx="9784080" cy="4076700"/>
          </a:xfrm>
          <a:prstGeom prst="rect">
            <a:avLst/>
          </a:prstGeom>
          <a:solidFill>
            <a:srgbClr val="0B1F3A">
              <a:alpha val="0"/>
            </a:srgbClr>
          </a:solidFill>
          <a:ln w="12700">
            <a:solidFill>
              <a:srgbClr val="C8A951"/>
            </a:solidFill>
            <a:prstDash val="solid"/>
          </a:ln>
        </p:spPr>
      </p:sp>
      <p:sp>
        <p:nvSpPr>
          <p:cNvPr id="6" name="Text 3"/>
          <p:cNvSpPr/>
          <p:nvPr/>
        </p:nvSpPr>
        <p:spPr>
          <a:xfrm>
            <a:off x="640080" y="5742432"/>
            <a:ext cx="10908792" cy="384048"/>
          </a:xfrm>
          <a:prstGeom prst="rect">
            <a:avLst/>
          </a:prstGeom>
          <a:noFill/>
          <a:ln/>
        </p:spPr>
        <p:txBody>
          <a:bodyPr wrap="square" lIns="0" tIns="0" rIns="0" bIns="0" rtlCol="0" anchor="ctr"/>
          <a:lstStyle/>
          <a:p>
            <a:pPr indent="0" marL="0">
              <a:buNone/>
            </a:pPr>
            <a:r>
              <a:rPr lang="en-US" sz="1900" b="1" i="1" dirty="0">
                <a:solidFill>
                  <a:srgbClr val="FFFFFF"/>
                </a:solidFill>
                <a:latin typeface="Cambria" pitchFamily="34" charset="0"/>
                <a:ea typeface="Cambria" pitchFamily="34" charset="-122"/>
                <a:cs typeface="Cambria" pitchFamily="34" charset="-120"/>
              </a:rPr>
              <a:t>Every decision ships with its drivers and counterfactuals. </a:t>
            </a:r>
            <a:pPr indent="0" marL="0">
              <a:buNone/>
            </a:pPr>
            <a:r>
              <a:rPr lang="en-US" sz="1900" i="1" dirty="0">
                <a:solidFill>
                  <a:srgbClr val="C8A951"/>
                </a:solidFill>
                <a:latin typeface="Cambria" pitchFamily="34" charset="0"/>
                <a:ea typeface="Cambria" pitchFamily="34" charset="-122"/>
                <a:cs typeface="Cambria" pitchFamily="34" charset="-120"/>
              </a:rPr>
              <a:t>Mathematically fair. No black box.</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RUBRIC COVERAGE</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Complete Mapping to the Brief</a:t>
            </a:r>
            <a:endParaRPr lang="en-US" sz="3400" dirty="0"/>
          </a:p>
        </p:txBody>
      </p:sp>
      <p:sp>
        <p:nvSpPr>
          <p:cNvPr id="4" name="Text 2"/>
          <p:cNvSpPr/>
          <p:nvPr/>
        </p:nvSpPr>
        <p:spPr>
          <a:xfrm>
            <a:off x="1097280" y="1691640"/>
            <a:ext cx="2423160" cy="256032"/>
          </a:xfrm>
          <a:prstGeom prst="rect">
            <a:avLst/>
          </a:prstGeom>
          <a:noFill/>
          <a:ln/>
        </p:spPr>
        <p:txBody>
          <a:bodyPr wrap="square" lIns="0" tIns="0" rIns="0" bIns="0" rtlCol="0" anchor="ctr"/>
          <a:lstStyle/>
          <a:p>
            <a:pPr indent="0" marL="0">
              <a:buNone/>
            </a:pPr>
            <a:r>
              <a:rPr lang="en-US" sz="950" b="1" spc="150" kern="0" dirty="0">
                <a:solidFill>
                  <a:srgbClr val="7E97B5"/>
                </a:solidFill>
                <a:latin typeface="Calibri" pitchFamily="34" charset="0"/>
                <a:ea typeface="Calibri" pitchFamily="34" charset="-122"/>
                <a:cs typeface="Calibri" pitchFamily="34" charset="-120"/>
              </a:rPr>
              <a:t>REQUIREMENT</a:t>
            </a:r>
            <a:endParaRPr lang="en-US" sz="950" dirty="0"/>
          </a:p>
        </p:txBody>
      </p:sp>
      <p:sp>
        <p:nvSpPr>
          <p:cNvPr id="5" name="Text 3"/>
          <p:cNvSpPr/>
          <p:nvPr/>
        </p:nvSpPr>
        <p:spPr>
          <a:xfrm>
            <a:off x="3630168" y="1691640"/>
            <a:ext cx="3794760" cy="256032"/>
          </a:xfrm>
          <a:prstGeom prst="rect">
            <a:avLst/>
          </a:prstGeom>
          <a:noFill/>
          <a:ln/>
        </p:spPr>
        <p:txBody>
          <a:bodyPr wrap="square" lIns="0" tIns="0" rIns="0" bIns="0" rtlCol="0" anchor="ctr"/>
          <a:lstStyle/>
          <a:p>
            <a:pPr indent="0" marL="0">
              <a:buNone/>
            </a:pPr>
            <a:r>
              <a:rPr lang="en-US" sz="950" b="1" spc="150" kern="0" dirty="0">
                <a:solidFill>
                  <a:srgbClr val="7E97B5"/>
                </a:solidFill>
                <a:latin typeface="Calibri" pitchFamily="34" charset="0"/>
                <a:ea typeface="Calibri" pitchFamily="34" charset="-122"/>
                <a:cs typeface="Calibri" pitchFamily="34" charset="-120"/>
              </a:rPr>
              <a:t>HOW SURETY DELIVERS IT</a:t>
            </a:r>
            <a:endParaRPr lang="en-US" sz="950" dirty="0"/>
          </a:p>
        </p:txBody>
      </p:sp>
      <p:sp>
        <p:nvSpPr>
          <p:cNvPr id="6" name="Text 4"/>
          <p:cNvSpPr/>
          <p:nvPr/>
        </p:nvSpPr>
        <p:spPr>
          <a:xfrm>
            <a:off x="7790688" y="1691640"/>
            <a:ext cx="3593592" cy="256032"/>
          </a:xfrm>
          <a:prstGeom prst="rect">
            <a:avLst/>
          </a:prstGeom>
          <a:noFill/>
          <a:ln/>
        </p:spPr>
        <p:txBody>
          <a:bodyPr wrap="square" lIns="0" tIns="0" rIns="0" bIns="0" rtlCol="0" anchor="ctr"/>
          <a:lstStyle/>
          <a:p>
            <a:pPr indent="0" marL="0">
              <a:buNone/>
            </a:pPr>
            <a:r>
              <a:rPr lang="en-US" sz="950" b="1" spc="150" kern="0" dirty="0">
                <a:solidFill>
                  <a:srgbClr val="C8A951"/>
                </a:solidFill>
                <a:latin typeface="Calibri" pitchFamily="34" charset="0"/>
                <a:ea typeface="Calibri" pitchFamily="34" charset="-122"/>
                <a:cs typeface="Calibri" pitchFamily="34" charset="-120"/>
              </a:rPr>
              <a:t>SHOWN IN THE DEMO</a:t>
            </a:r>
            <a:endParaRPr lang="en-US" sz="950" dirty="0"/>
          </a:p>
        </p:txBody>
      </p:sp>
      <p:sp>
        <p:nvSpPr>
          <p:cNvPr id="7" name="Shape 5"/>
          <p:cNvSpPr/>
          <p:nvPr/>
        </p:nvSpPr>
        <p:spPr>
          <a:xfrm>
            <a:off x="640080" y="2057400"/>
            <a:ext cx="10908792" cy="731520"/>
          </a:xfrm>
          <a:prstGeom prst="roundRect">
            <a:avLst>
              <a:gd name="adj" fmla="val 6250"/>
            </a:avLst>
          </a:prstGeom>
          <a:solidFill>
            <a:srgbClr val="0F2A4A"/>
          </a:solidFill>
          <a:ln w="9525">
            <a:solidFill>
              <a:srgbClr val="1E4470"/>
            </a:solidFill>
            <a:prstDash val="solid"/>
          </a:ln>
        </p:spPr>
      </p:sp>
      <p:sp>
        <p:nvSpPr>
          <p:cNvPr id="8" name="Shape 6"/>
          <p:cNvSpPr/>
          <p:nvPr/>
        </p:nvSpPr>
        <p:spPr>
          <a:xfrm>
            <a:off x="859536" y="2276856"/>
            <a:ext cx="292608" cy="292608"/>
          </a:xfrm>
          <a:prstGeom prst="ellipse">
            <a:avLst/>
          </a:prstGeom>
          <a:solidFill>
            <a:srgbClr val="C8A951"/>
          </a:solidFill>
          <a:ln w="12700">
            <a:solidFill>
              <a:srgbClr val="333333"/>
            </a:solidFill>
            <a:prstDash val="solid"/>
          </a:ln>
        </p:spPr>
      </p:sp>
      <p:sp>
        <p:nvSpPr>
          <p:cNvPr id="9" name="Shape 7"/>
          <p:cNvSpPr/>
          <p:nvPr/>
        </p:nvSpPr>
        <p:spPr>
          <a:xfrm>
            <a:off x="928116" y="2418588"/>
            <a:ext cx="54864" cy="64008"/>
          </a:xfrm>
          <a:prstGeom prst="line">
            <a:avLst/>
          </a:prstGeom>
          <a:noFill/>
          <a:ln w="19050">
            <a:solidFill>
              <a:srgbClr val="0B1F3A"/>
            </a:solidFill>
            <a:prstDash val="solid"/>
          </a:ln>
        </p:spPr>
      </p:sp>
      <p:sp>
        <p:nvSpPr>
          <p:cNvPr id="10" name="Shape 8"/>
          <p:cNvSpPr/>
          <p:nvPr/>
        </p:nvSpPr>
        <p:spPr>
          <a:xfrm flipV="1">
            <a:off x="982980" y="2363724"/>
            <a:ext cx="105156" cy="118872"/>
          </a:xfrm>
          <a:prstGeom prst="line">
            <a:avLst/>
          </a:prstGeom>
          <a:noFill/>
          <a:ln w="19050">
            <a:solidFill>
              <a:srgbClr val="0B1F3A"/>
            </a:solidFill>
            <a:prstDash val="solid"/>
          </a:ln>
        </p:spPr>
      </p:sp>
      <p:sp>
        <p:nvSpPr>
          <p:cNvPr id="11" name="Text 9"/>
          <p:cNvSpPr/>
          <p:nvPr/>
        </p:nvSpPr>
        <p:spPr>
          <a:xfrm>
            <a:off x="1280160" y="2112264"/>
            <a:ext cx="2057400" cy="62179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Granular permission model</a:t>
            </a:r>
            <a:endParaRPr lang="en-US" sz="1250" dirty="0"/>
          </a:p>
        </p:txBody>
      </p:sp>
      <p:sp>
        <p:nvSpPr>
          <p:cNvPr id="12" name="Text 10"/>
          <p:cNvSpPr/>
          <p:nvPr/>
        </p:nvSpPr>
        <p:spPr>
          <a:xfrm>
            <a:off x="3630168" y="2112264"/>
            <a:ext cx="3758184" cy="621792"/>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Risk-tiered terms over action type, merchant category, velocity and amount ceiling. Operator-configurable.</a:t>
            </a:r>
            <a:endParaRPr lang="en-US" sz="1150" dirty="0"/>
          </a:p>
        </p:txBody>
      </p:sp>
      <p:sp>
        <p:nvSpPr>
          <p:cNvPr id="13" name="Text 11"/>
          <p:cNvSpPr/>
          <p:nvPr/>
        </p:nvSpPr>
        <p:spPr>
          <a:xfrm>
            <a:off x="7790688" y="2112264"/>
            <a:ext cx="3557016" cy="621792"/>
          </a:xfrm>
          <a:prstGeom prst="rect">
            <a:avLst/>
          </a:prstGeom>
          <a:noFill/>
          <a:ln/>
        </p:spPr>
        <p:txBody>
          <a:bodyPr wrap="square" lIns="0" tIns="0" rIns="0" bIns="0" rtlCol="0" anchor="ctr"/>
          <a:lstStyle/>
          <a:p>
            <a:pPr indent="0" marL="0">
              <a:lnSpc>
                <a:spcPts val="1500"/>
              </a:lnSpc>
              <a:buNone/>
            </a:pPr>
            <a:r>
              <a:rPr lang="en-US" sz="1150" dirty="0">
                <a:solidFill>
                  <a:srgbClr val="C8A951"/>
                </a:solidFill>
                <a:latin typeface="Calibri" pitchFamily="34" charset="0"/>
                <a:ea typeface="Calibri" pitchFamily="34" charset="-122"/>
                <a:cs typeface="Calibri" pitchFamily="34" charset="-120"/>
              </a:rPr>
              <a:t>Tier change applied live to a running agent</a:t>
            </a:r>
            <a:endParaRPr lang="en-US" sz="1150" dirty="0"/>
          </a:p>
        </p:txBody>
      </p:sp>
      <p:sp>
        <p:nvSpPr>
          <p:cNvPr id="14" name="Shape 12"/>
          <p:cNvSpPr/>
          <p:nvPr/>
        </p:nvSpPr>
        <p:spPr>
          <a:xfrm>
            <a:off x="640080" y="2889504"/>
            <a:ext cx="10908792" cy="731520"/>
          </a:xfrm>
          <a:prstGeom prst="roundRect">
            <a:avLst>
              <a:gd name="adj" fmla="val 6250"/>
            </a:avLst>
          </a:prstGeom>
          <a:solidFill>
            <a:srgbClr val="081A31"/>
          </a:solidFill>
          <a:ln w="9525">
            <a:solidFill>
              <a:srgbClr val="1E4470"/>
            </a:solidFill>
            <a:prstDash val="solid"/>
          </a:ln>
        </p:spPr>
      </p:sp>
      <p:sp>
        <p:nvSpPr>
          <p:cNvPr id="15" name="Shape 13"/>
          <p:cNvSpPr/>
          <p:nvPr/>
        </p:nvSpPr>
        <p:spPr>
          <a:xfrm>
            <a:off x="859536" y="3108960"/>
            <a:ext cx="292608" cy="292608"/>
          </a:xfrm>
          <a:prstGeom prst="ellipse">
            <a:avLst/>
          </a:prstGeom>
          <a:solidFill>
            <a:srgbClr val="C8A951"/>
          </a:solidFill>
          <a:ln w="12700">
            <a:solidFill>
              <a:srgbClr val="333333"/>
            </a:solidFill>
            <a:prstDash val="solid"/>
          </a:ln>
        </p:spPr>
      </p:sp>
      <p:sp>
        <p:nvSpPr>
          <p:cNvPr id="16" name="Shape 14"/>
          <p:cNvSpPr/>
          <p:nvPr/>
        </p:nvSpPr>
        <p:spPr>
          <a:xfrm>
            <a:off x="928116" y="3250692"/>
            <a:ext cx="54864" cy="64008"/>
          </a:xfrm>
          <a:prstGeom prst="line">
            <a:avLst/>
          </a:prstGeom>
          <a:noFill/>
          <a:ln w="19050">
            <a:solidFill>
              <a:srgbClr val="0B1F3A"/>
            </a:solidFill>
            <a:prstDash val="solid"/>
          </a:ln>
        </p:spPr>
      </p:sp>
      <p:sp>
        <p:nvSpPr>
          <p:cNvPr id="17" name="Shape 15"/>
          <p:cNvSpPr/>
          <p:nvPr/>
        </p:nvSpPr>
        <p:spPr>
          <a:xfrm flipV="1">
            <a:off x="982980" y="3195828"/>
            <a:ext cx="105156" cy="118872"/>
          </a:xfrm>
          <a:prstGeom prst="line">
            <a:avLst/>
          </a:prstGeom>
          <a:noFill/>
          <a:ln w="19050">
            <a:solidFill>
              <a:srgbClr val="0B1F3A"/>
            </a:solidFill>
            <a:prstDash val="solid"/>
          </a:ln>
        </p:spPr>
      </p:sp>
      <p:sp>
        <p:nvSpPr>
          <p:cNvPr id="18" name="Text 16"/>
          <p:cNvSpPr/>
          <p:nvPr/>
        </p:nvSpPr>
        <p:spPr>
          <a:xfrm>
            <a:off x="1280160" y="2944368"/>
            <a:ext cx="2057400" cy="62179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Dynamic spend caps, real time</a:t>
            </a:r>
            <a:endParaRPr lang="en-US" sz="1250" dirty="0"/>
          </a:p>
        </p:txBody>
      </p:sp>
      <p:sp>
        <p:nvSpPr>
          <p:cNvPr id="19" name="Text 17"/>
          <p:cNvSpPr/>
          <p:nvPr/>
        </p:nvSpPr>
        <p:spPr>
          <a:xfrm>
            <a:off x="3630168" y="2944368"/>
            <a:ext cx="3758184" cy="621792"/>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Recomputed from the live risk score, enforced in-path by OPA with Redis token buckets.</a:t>
            </a:r>
            <a:endParaRPr lang="en-US" sz="1150" dirty="0"/>
          </a:p>
        </p:txBody>
      </p:sp>
      <p:sp>
        <p:nvSpPr>
          <p:cNvPr id="20" name="Text 18"/>
          <p:cNvSpPr/>
          <p:nvPr/>
        </p:nvSpPr>
        <p:spPr>
          <a:xfrm>
            <a:off x="7790688" y="2944368"/>
            <a:ext cx="3557016" cy="621792"/>
          </a:xfrm>
          <a:prstGeom prst="rect">
            <a:avLst/>
          </a:prstGeom>
          <a:noFill/>
          <a:ln/>
        </p:spPr>
        <p:txBody>
          <a:bodyPr wrap="square" lIns="0" tIns="0" rIns="0" bIns="0" rtlCol="0" anchor="ctr"/>
          <a:lstStyle/>
          <a:p>
            <a:pPr indent="0" marL="0">
              <a:lnSpc>
                <a:spcPts val="1500"/>
              </a:lnSpc>
              <a:buNone/>
            </a:pPr>
            <a:r>
              <a:rPr lang="en-US" sz="1150" dirty="0">
                <a:solidFill>
                  <a:srgbClr val="C8A951"/>
                </a:solidFill>
                <a:latin typeface="Calibri" pitchFamily="34" charset="0"/>
                <a:ea typeface="Calibri" pitchFamily="34" charset="-122"/>
                <a:cs typeface="Calibri" pitchFamily="34" charset="-120"/>
              </a:rPr>
              <a:t>Cap tightens the moment the score moves</a:t>
            </a:r>
            <a:endParaRPr lang="en-US" sz="1150" dirty="0"/>
          </a:p>
        </p:txBody>
      </p:sp>
      <p:sp>
        <p:nvSpPr>
          <p:cNvPr id="21" name="Shape 19"/>
          <p:cNvSpPr/>
          <p:nvPr/>
        </p:nvSpPr>
        <p:spPr>
          <a:xfrm>
            <a:off x="640080" y="3721608"/>
            <a:ext cx="10908792" cy="731520"/>
          </a:xfrm>
          <a:prstGeom prst="roundRect">
            <a:avLst>
              <a:gd name="adj" fmla="val 6250"/>
            </a:avLst>
          </a:prstGeom>
          <a:solidFill>
            <a:srgbClr val="0F2A4A"/>
          </a:solidFill>
          <a:ln w="9525">
            <a:solidFill>
              <a:srgbClr val="1E4470"/>
            </a:solidFill>
            <a:prstDash val="solid"/>
          </a:ln>
        </p:spPr>
      </p:sp>
      <p:sp>
        <p:nvSpPr>
          <p:cNvPr id="22" name="Shape 20"/>
          <p:cNvSpPr/>
          <p:nvPr/>
        </p:nvSpPr>
        <p:spPr>
          <a:xfrm>
            <a:off x="859536" y="3941064"/>
            <a:ext cx="292608" cy="292608"/>
          </a:xfrm>
          <a:prstGeom prst="ellipse">
            <a:avLst/>
          </a:prstGeom>
          <a:solidFill>
            <a:srgbClr val="C8A951"/>
          </a:solidFill>
          <a:ln w="12700">
            <a:solidFill>
              <a:srgbClr val="333333"/>
            </a:solidFill>
            <a:prstDash val="solid"/>
          </a:ln>
        </p:spPr>
      </p:sp>
      <p:sp>
        <p:nvSpPr>
          <p:cNvPr id="23" name="Shape 21"/>
          <p:cNvSpPr/>
          <p:nvPr/>
        </p:nvSpPr>
        <p:spPr>
          <a:xfrm>
            <a:off x="928116" y="4082796"/>
            <a:ext cx="54864" cy="64008"/>
          </a:xfrm>
          <a:prstGeom prst="line">
            <a:avLst/>
          </a:prstGeom>
          <a:noFill/>
          <a:ln w="19050">
            <a:solidFill>
              <a:srgbClr val="0B1F3A"/>
            </a:solidFill>
            <a:prstDash val="solid"/>
          </a:ln>
        </p:spPr>
      </p:sp>
      <p:sp>
        <p:nvSpPr>
          <p:cNvPr id="24" name="Shape 22"/>
          <p:cNvSpPr/>
          <p:nvPr/>
        </p:nvSpPr>
        <p:spPr>
          <a:xfrm flipV="1">
            <a:off x="982980" y="4027932"/>
            <a:ext cx="105156" cy="118872"/>
          </a:xfrm>
          <a:prstGeom prst="line">
            <a:avLst/>
          </a:prstGeom>
          <a:noFill/>
          <a:ln w="19050">
            <a:solidFill>
              <a:srgbClr val="0B1F3A"/>
            </a:solidFill>
            <a:prstDash val="solid"/>
          </a:ln>
        </p:spPr>
      </p:sp>
      <p:sp>
        <p:nvSpPr>
          <p:cNvPr id="25" name="Text 23"/>
          <p:cNvSpPr/>
          <p:nvPr/>
        </p:nvSpPr>
        <p:spPr>
          <a:xfrm>
            <a:off x="1280160" y="3776472"/>
            <a:ext cx="2057400" cy="62179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Revocation and emergency stop</a:t>
            </a:r>
            <a:endParaRPr lang="en-US" sz="1250" dirty="0"/>
          </a:p>
        </p:txBody>
      </p:sp>
      <p:sp>
        <p:nvSpPr>
          <p:cNvPr id="26" name="Text 24"/>
          <p:cNvSpPr/>
          <p:nvPr/>
        </p:nvSpPr>
        <p:spPr>
          <a:xfrm>
            <a:off x="3630168" y="3776472"/>
            <a:ext cx="3758184" cy="621792"/>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Three levels: single agent, agent class, whole fleet. In-flight requests decline at once.</a:t>
            </a:r>
            <a:endParaRPr lang="en-US" sz="1150" dirty="0"/>
          </a:p>
        </p:txBody>
      </p:sp>
      <p:sp>
        <p:nvSpPr>
          <p:cNvPr id="27" name="Text 25"/>
          <p:cNvSpPr/>
          <p:nvPr/>
        </p:nvSpPr>
        <p:spPr>
          <a:xfrm>
            <a:off x="7790688" y="3776472"/>
            <a:ext cx="3557016" cy="621792"/>
          </a:xfrm>
          <a:prstGeom prst="rect">
            <a:avLst/>
          </a:prstGeom>
          <a:noFill/>
          <a:ln/>
        </p:spPr>
        <p:txBody>
          <a:bodyPr wrap="square" lIns="0" tIns="0" rIns="0" bIns="0" rtlCol="0" anchor="ctr"/>
          <a:lstStyle/>
          <a:p>
            <a:pPr indent="0" marL="0">
              <a:lnSpc>
                <a:spcPts val="1500"/>
              </a:lnSpc>
              <a:buNone/>
            </a:pPr>
            <a:r>
              <a:rPr lang="en-US" sz="1150" dirty="0">
                <a:solidFill>
                  <a:srgbClr val="C8A951"/>
                </a:solidFill>
                <a:latin typeface="Calibri" pitchFamily="34" charset="0"/>
                <a:ea typeface="Calibri" pitchFamily="34" charset="-122"/>
                <a:cs typeface="Calibri" pitchFamily="34" charset="-120"/>
              </a:rPr>
              <a:t>Fleet breaker pulled on stage, declines visible</a:t>
            </a:r>
            <a:endParaRPr lang="en-US" sz="1150" dirty="0"/>
          </a:p>
        </p:txBody>
      </p:sp>
      <p:sp>
        <p:nvSpPr>
          <p:cNvPr id="28" name="Shape 26"/>
          <p:cNvSpPr/>
          <p:nvPr/>
        </p:nvSpPr>
        <p:spPr>
          <a:xfrm>
            <a:off x="640080" y="4553712"/>
            <a:ext cx="10908792" cy="731520"/>
          </a:xfrm>
          <a:prstGeom prst="roundRect">
            <a:avLst>
              <a:gd name="adj" fmla="val 6250"/>
            </a:avLst>
          </a:prstGeom>
          <a:solidFill>
            <a:srgbClr val="081A31"/>
          </a:solidFill>
          <a:ln w="9525">
            <a:solidFill>
              <a:srgbClr val="1E4470"/>
            </a:solidFill>
            <a:prstDash val="solid"/>
          </a:ln>
        </p:spPr>
      </p:sp>
      <p:sp>
        <p:nvSpPr>
          <p:cNvPr id="29" name="Shape 27"/>
          <p:cNvSpPr/>
          <p:nvPr/>
        </p:nvSpPr>
        <p:spPr>
          <a:xfrm>
            <a:off x="859536" y="4773168"/>
            <a:ext cx="292608" cy="292608"/>
          </a:xfrm>
          <a:prstGeom prst="ellipse">
            <a:avLst/>
          </a:prstGeom>
          <a:solidFill>
            <a:srgbClr val="C8A951"/>
          </a:solidFill>
          <a:ln w="12700">
            <a:solidFill>
              <a:srgbClr val="333333"/>
            </a:solidFill>
            <a:prstDash val="solid"/>
          </a:ln>
        </p:spPr>
      </p:sp>
      <p:sp>
        <p:nvSpPr>
          <p:cNvPr id="30" name="Shape 28"/>
          <p:cNvSpPr/>
          <p:nvPr/>
        </p:nvSpPr>
        <p:spPr>
          <a:xfrm>
            <a:off x="928116" y="4914900"/>
            <a:ext cx="54864" cy="64008"/>
          </a:xfrm>
          <a:prstGeom prst="line">
            <a:avLst/>
          </a:prstGeom>
          <a:noFill/>
          <a:ln w="19050">
            <a:solidFill>
              <a:srgbClr val="0B1F3A"/>
            </a:solidFill>
            <a:prstDash val="solid"/>
          </a:ln>
        </p:spPr>
      </p:sp>
      <p:sp>
        <p:nvSpPr>
          <p:cNvPr id="31" name="Shape 29"/>
          <p:cNvSpPr/>
          <p:nvPr/>
        </p:nvSpPr>
        <p:spPr>
          <a:xfrm flipV="1">
            <a:off x="982980" y="4860036"/>
            <a:ext cx="105156" cy="118872"/>
          </a:xfrm>
          <a:prstGeom prst="line">
            <a:avLst/>
          </a:prstGeom>
          <a:noFill/>
          <a:ln w="19050">
            <a:solidFill>
              <a:srgbClr val="0B1F3A"/>
            </a:solidFill>
            <a:prstDash val="solid"/>
          </a:ln>
        </p:spPr>
      </p:sp>
      <p:sp>
        <p:nvSpPr>
          <p:cNvPr id="32" name="Text 30"/>
          <p:cNvSpPr/>
          <p:nvPr/>
        </p:nvSpPr>
        <p:spPr>
          <a:xfrm>
            <a:off x="1280160" y="4608576"/>
            <a:ext cx="2057400" cy="62179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Operator dashboard</a:t>
            </a:r>
            <a:endParaRPr lang="en-US" sz="1250" dirty="0"/>
          </a:p>
        </p:txBody>
      </p:sp>
      <p:sp>
        <p:nvSpPr>
          <p:cNvPr id="33" name="Text 31"/>
          <p:cNvSpPr/>
          <p:nvPr/>
        </p:nvSpPr>
        <p:spPr>
          <a:xfrm>
            <a:off x="3630168" y="4608576"/>
            <a:ext cx="3758184" cy="621792"/>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Underwriter's console: live exposure, policy editor, decision replay, one-click breakers.</a:t>
            </a:r>
            <a:endParaRPr lang="en-US" sz="1150" dirty="0"/>
          </a:p>
        </p:txBody>
      </p:sp>
      <p:sp>
        <p:nvSpPr>
          <p:cNvPr id="34" name="Text 32"/>
          <p:cNvSpPr/>
          <p:nvPr/>
        </p:nvSpPr>
        <p:spPr>
          <a:xfrm>
            <a:off x="7790688" y="4608576"/>
            <a:ext cx="3557016" cy="621792"/>
          </a:xfrm>
          <a:prstGeom prst="rect">
            <a:avLst/>
          </a:prstGeom>
          <a:noFill/>
          <a:ln/>
        </p:spPr>
        <p:txBody>
          <a:bodyPr wrap="square" lIns="0" tIns="0" rIns="0" bIns="0" rtlCol="0" anchor="ctr"/>
          <a:lstStyle/>
          <a:p>
            <a:pPr indent="0" marL="0">
              <a:lnSpc>
                <a:spcPts val="1500"/>
              </a:lnSpc>
              <a:buNone/>
            </a:pPr>
            <a:r>
              <a:rPr lang="en-US" sz="1150" dirty="0">
                <a:solidFill>
                  <a:srgbClr val="C8A951"/>
                </a:solidFill>
                <a:latin typeface="Calibri" pitchFamily="34" charset="0"/>
                <a:ea typeface="Calibri" pitchFamily="34" charset="-122"/>
                <a:cs typeface="Calibri" pitchFamily="34" charset="-120"/>
              </a:rPr>
              <a:t>Console driven live, not screenshotted</a:t>
            </a:r>
            <a:endParaRPr lang="en-US" sz="1150" dirty="0"/>
          </a:p>
        </p:txBody>
      </p:sp>
      <p:sp>
        <p:nvSpPr>
          <p:cNvPr id="35" name="Shape 33"/>
          <p:cNvSpPr/>
          <p:nvPr/>
        </p:nvSpPr>
        <p:spPr>
          <a:xfrm>
            <a:off x="640080" y="5385816"/>
            <a:ext cx="10908792" cy="731520"/>
          </a:xfrm>
          <a:prstGeom prst="roundRect">
            <a:avLst>
              <a:gd name="adj" fmla="val 6250"/>
            </a:avLst>
          </a:prstGeom>
          <a:solidFill>
            <a:srgbClr val="0F2A4A"/>
          </a:solidFill>
          <a:ln w="9525">
            <a:solidFill>
              <a:srgbClr val="1E4470"/>
            </a:solidFill>
            <a:prstDash val="solid"/>
          </a:ln>
        </p:spPr>
      </p:sp>
      <p:sp>
        <p:nvSpPr>
          <p:cNvPr id="36" name="Shape 34"/>
          <p:cNvSpPr/>
          <p:nvPr/>
        </p:nvSpPr>
        <p:spPr>
          <a:xfrm>
            <a:off x="859536" y="5605272"/>
            <a:ext cx="292608" cy="292608"/>
          </a:xfrm>
          <a:prstGeom prst="ellipse">
            <a:avLst/>
          </a:prstGeom>
          <a:solidFill>
            <a:srgbClr val="C8A951"/>
          </a:solidFill>
          <a:ln w="12700">
            <a:solidFill>
              <a:srgbClr val="333333"/>
            </a:solidFill>
            <a:prstDash val="solid"/>
          </a:ln>
        </p:spPr>
      </p:sp>
      <p:sp>
        <p:nvSpPr>
          <p:cNvPr id="37" name="Shape 35"/>
          <p:cNvSpPr/>
          <p:nvPr/>
        </p:nvSpPr>
        <p:spPr>
          <a:xfrm>
            <a:off x="928116" y="5747004"/>
            <a:ext cx="54864" cy="64008"/>
          </a:xfrm>
          <a:prstGeom prst="line">
            <a:avLst/>
          </a:prstGeom>
          <a:noFill/>
          <a:ln w="19050">
            <a:solidFill>
              <a:srgbClr val="0B1F3A"/>
            </a:solidFill>
            <a:prstDash val="solid"/>
          </a:ln>
        </p:spPr>
      </p:sp>
      <p:sp>
        <p:nvSpPr>
          <p:cNvPr id="38" name="Shape 36"/>
          <p:cNvSpPr/>
          <p:nvPr/>
        </p:nvSpPr>
        <p:spPr>
          <a:xfrm flipV="1">
            <a:off x="982980" y="5692140"/>
            <a:ext cx="105156" cy="118872"/>
          </a:xfrm>
          <a:prstGeom prst="line">
            <a:avLst/>
          </a:prstGeom>
          <a:noFill/>
          <a:ln w="19050">
            <a:solidFill>
              <a:srgbClr val="0B1F3A"/>
            </a:solidFill>
            <a:prstDash val="solid"/>
          </a:ln>
        </p:spPr>
      </p:sp>
      <p:sp>
        <p:nvSpPr>
          <p:cNvPr id="39" name="Text 37"/>
          <p:cNvSpPr/>
          <p:nvPr/>
        </p:nvSpPr>
        <p:spPr>
          <a:xfrm>
            <a:off x="1280160" y="5440680"/>
            <a:ext cx="2057400" cy="621792"/>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Testing and optimisation</a:t>
            </a:r>
            <a:endParaRPr lang="en-US" sz="1250" dirty="0"/>
          </a:p>
        </p:txBody>
      </p:sp>
      <p:sp>
        <p:nvSpPr>
          <p:cNvPr id="40" name="Text 38"/>
          <p:cNvSpPr/>
          <p:nvPr/>
        </p:nvSpPr>
        <p:spPr>
          <a:xfrm>
            <a:off x="3630168" y="5440680"/>
            <a:ext cx="3758184" cy="621792"/>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50-agent simulated fleet with planted rogues; precision, recall and p99 latency reported.</a:t>
            </a:r>
            <a:endParaRPr lang="en-US" sz="1150" dirty="0"/>
          </a:p>
        </p:txBody>
      </p:sp>
      <p:sp>
        <p:nvSpPr>
          <p:cNvPr id="41" name="Text 39"/>
          <p:cNvSpPr/>
          <p:nvPr/>
        </p:nvSpPr>
        <p:spPr>
          <a:xfrm>
            <a:off x="7790688" y="5440680"/>
            <a:ext cx="3557016" cy="621792"/>
          </a:xfrm>
          <a:prstGeom prst="rect">
            <a:avLst/>
          </a:prstGeom>
          <a:noFill/>
          <a:ln/>
        </p:spPr>
        <p:txBody>
          <a:bodyPr wrap="square" lIns="0" tIns="0" rIns="0" bIns="0" rtlCol="0" anchor="ctr"/>
          <a:lstStyle/>
          <a:p>
            <a:pPr indent="0" marL="0">
              <a:lnSpc>
                <a:spcPts val="1500"/>
              </a:lnSpc>
              <a:buNone/>
            </a:pPr>
            <a:r>
              <a:rPr lang="en-US" sz="1150" dirty="0">
                <a:solidFill>
                  <a:srgbClr val="C8A951"/>
                </a:solidFill>
                <a:latin typeface="Calibri" pitchFamily="34" charset="0"/>
                <a:ea typeface="Calibri" pitchFamily="34" charset="-122"/>
                <a:cs typeface="Calibri" pitchFamily="34" charset="-120"/>
              </a:rPr>
              <a:t>Measured results and a live tamper test</a:t>
            </a:r>
            <a:endParaRPr lang="en-US" sz="1150" dirty="0"/>
          </a:p>
        </p:txBody>
      </p:sp>
      <p:sp>
        <p:nvSpPr>
          <p:cNvPr id="42" name="Text 40"/>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43" name="Text 41"/>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06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TECHNICAL ARCHITECTURE</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Designed for Sub-10ms Decisions</a:t>
            </a:r>
            <a:endParaRPr lang="en-US" sz="3400" dirty="0"/>
          </a:p>
        </p:txBody>
      </p:sp>
      <p:sp>
        <p:nvSpPr>
          <p:cNvPr id="4" name="Shape 2"/>
          <p:cNvSpPr/>
          <p:nvPr/>
        </p:nvSpPr>
        <p:spPr>
          <a:xfrm>
            <a:off x="640080" y="1737360"/>
            <a:ext cx="1385969" cy="1463040"/>
          </a:xfrm>
          <a:prstGeom prst="roundRect">
            <a:avLst>
              <a:gd name="adj" fmla="val 3299"/>
            </a:avLst>
          </a:prstGeom>
          <a:solidFill>
            <a:srgbClr val="0F2A4A"/>
          </a:solidFill>
          <a:ln w="9525">
            <a:solidFill>
              <a:srgbClr val="1E4470"/>
            </a:solidFill>
            <a:prstDash val="solid"/>
          </a:ln>
        </p:spPr>
      </p:sp>
      <p:sp>
        <p:nvSpPr>
          <p:cNvPr id="5" name="Text 3"/>
          <p:cNvSpPr/>
          <p:nvPr/>
        </p:nvSpPr>
        <p:spPr>
          <a:xfrm>
            <a:off x="786384"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01</a:t>
            </a:r>
            <a:endParaRPr lang="en-US" sz="900" dirty="0"/>
          </a:p>
        </p:txBody>
      </p:sp>
      <p:sp>
        <p:nvSpPr>
          <p:cNvPr id="6" name="Text 4"/>
          <p:cNvSpPr/>
          <p:nvPr/>
        </p:nvSpPr>
        <p:spPr>
          <a:xfrm>
            <a:off x="749808"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Agent action</a:t>
            </a:r>
            <a:endParaRPr lang="en-US" sz="1250" dirty="0"/>
          </a:p>
        </p:txBody>
      </p:sp>
      <p:sp>
        <p:nvSpPr>
          <p:cNvPr id="7" name="Text 5"/>
          <p:cNvSpPr/>
          <p:nvPr/>
        </p:nvSpPr>
        <p:spPr>
          <a:xfrm>
            <a:off x="749808"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Ingests ACE: intent intelligence, cart context</a:t>
            </a:r>
            <a:endParaRPr lang="en-US" sz="950" dirty="0"/>
          </a:p>
        </p:txBody>
      </p:sp>
      <p:sp>
        <p:nvSpPr>
          <p:cNvPr id="8" name="Shape 6"/>
          <p:cNvSpPr/>
          <p:nvPr/>
        </p:nvSpPr>
        <p:spPr>
          <a:xfrm>
            <a:off x="2062625" y="2468880"/>
            <a:ext cx="128016" cy="0"/>
          </a:xfrm>
          <a:prstGeom prst="line">
            <a:avLst/>
          </a:prstGeom>
          <a:noFill/>
          <a:ln w="15875">
            <a:solidFill>
              <a:srgbClr val="016FD0"/>
            </a:solidFill>
            <a:prstDash val="solid"/>
            <a:tailEnd type="triangle"/>
          </a:ln>
        </p:spPr>
      </p:sp>
      <p:sp>
        <p:nvSpPr>
          <p:cNvPr id="9" name="Shape 7"/>
          <p:cNvSpPr/>
          <p:nvPr/>
        </p:nvSpPr>
        <p:spPr>
          <a:xfrm>
            <a:off x="2227217" y="1737360"/>
            <a:ext cx="1385969" cy="1463040"/>
          </a:xfrm>
          <a:prstGeom prst="roundRect">
            <a:avLst>
              <a:gd name="adj" fmla="val 3299"/>
            </a:avLst>
          </a:prstGeom>
          <a:solidFill>
            <a:srgbClr val="0F2A4A"/>
          </a:solidFill>
          <a:ln w="9525">
            <a:solidFill>
              <a:srgbClr val="1E4470"/>
            </a:solidFill>
            <a:prstDash val="solid"/>
          </a:ln>
        </p:spPr>
      </p:sp>
      <p:sp>
        <p:nvSpPr>
          <p:cNvPr id="10" name="Text 8"/>
          <p:cNvSpPr/>
          <p:nvPr/>
        </p:nvSpPr>
        <p:spPr>
          <a:xfrm>
            <a:off x="2373521"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02</a:t>
            </a:r>
            <a:endParaRPr lang="en-US" sz="900" dirty="0"/>
          </a:p>
        </p:txBody>
      </p:sp>
      <p:sp>
        <p:nvSpPr>
          <p:cNvPr id="11" name="Text 9"/>
          <p:cNvSpPr/>
          <p:nvPr/>
        </p:nvSpPr>
        <p:spPr>
          <a:xfrm>
            <a:off x="2336945"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2" name="Text 10"/>
          <p:cNvSpPr/>
          <p:nvPr/>
        </p:nvSpPr>
        <p:spPr>
          <a:xfrm>
            <a:off x="2336945"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Event backbone</a:t>
            </a:r>
            <a:endParaRPr lang="en-US" sz="950" dirty="0"/>
          </a:p>
        </p:txBody>
      </p:sp>
      <p:sp>
        <p:nvSpPr>
          <p:cNvPr id="13" name="Shape 11"/>
          <p:cNvSpPr/>
          <p:nvPr/>
        </p:nvSpPr>
        <p:spPr>
          <a:xfrm>
            <a:off x="3649762" y="2468880"/>
            <a:ext cx="128016" cy="0"/>
          </a:xfrm>
          <a:prstGeom prst="line">
            <a:avLst/>
          </a:prstGeom>
          <a:noFill/>
          <a:ln w="15875">
            <a:solidFill>
              <a:srgbClr val="016FD0"/>
            </a:solidFill>
            <a:prstDash val="solid"/>
            <a:tailEnd type="triangle"/>
          </a:ln>
        </p:spPr>
      </p:sp>
      <p:sp>
        <p:nvSpPr>
          <p:cNvPr id="14" name="Shape 12"/>
          <p:cNvSpPr/>
          <p:nvPr/>
        </p:nvSpPr>
        <p:spPr>
          <a:xfrm>
            <a:off x="3814354" y="1737360"/>
            <a:ext cx="1385969" cy="1463040"/>
          </a:xfrm>
          <a:prstGeom prst="roundRect">
            <a:avLst>
              <a:gd name="adj" fmla="val 3299"/>
            </a:avLst>
          </a:prstGeom>
          <a:solidFill>
            <a:srgbClr val="0F2A4A"/>
          </a:solidFill>
          <a:ln w="9525">
            <a:solidFill>
              <a:srgbClr val="1E4470"/>
            </a:solidFill>
            <a:prstDash val="solid"/>
          </a:ln>
        </p:spPr>
      </p:sp>
      <p:sp>
        <p:nvSpPr>
          <p:cNvPr id="15" name="Text 13"/>
          <p:cNvSpPr/>
          <p:nvPr/>
        </p:nvSpPr>
        <p:spPr>
          <a:xfrm>
            <a:off x="3960658"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03</a:t>
            </a:r>
            <a:endParaRPr lang="en-US" sz="900" dirty="0"/>
          </a:p>
        </p:txBody>
      </p:sp>
      <p:sp>
        <p:nvSpPr>
          <p:cNvPr id="16" name="Text 14"/>
          <p:cNvSpPr/>
          <p:nvPr/>
        </p:nvSpPr>
        <p:spPr>
          <a:xfrm>
            <a:off x="3924082"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Feature extractor</a:t>
            </a:r>
            <a:endParaRPr lang="en-US" sz="1250" dirty="0"/>
          </a:p>
        </p:txBody>
      </p:sp>
      <p:sp>
        <p:nvSpPr>
          <p:cNvPr id="17" name="Text 15"/>
          <p:cNvSpPr/>
          <p:nvPr/>
        </p:nvSpPr>
        <p:spPr>
          <a:xfrm>
            <a:off x="3924082"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Deviation, drift, entropy, velocity</a:t>
            </a:r>
            <a:endParaRPr lang="en-US" sz="950" dirty="0"/>
          </a:p>
        </p:txBody>
      </p:sp>
      <p:sp>
        <p:nvSpPr>
          <p:cNvPr id="18" name="Shape 16"/>
          <p:cNvSpPr/>
          <p:nvPr/>
        </p:nvSpPr>
        <p:spPr>
          <a:xfrm>
            <a:off x="5236899" y="2468880"/>
            <a:ext cx="128016" cy="0"/>
          </a:xfrm>
          <a:prstGeom prst="line">
            <a:avLst/>
          </a:prstGeom>
          <a:noFill/>
          <a:ln w="15875">
            <a:solidFill>
              <a:srgbClr val="016FD0"/>
            </a:solidFill>
            <a:prstDash val="solid"/>
            <a:tailEnd type="triangle"/>
          </a:ln>
        </p:spPr>
      </p:sp>
      <p:sp>
        <p:nvSpPr>
          <p:cNvPr id="19" name="Shape 17"/>
          <p:cNvSpPr/>
          <p:nvPr/>
        </p:nvSpPr>
        <p:spPr>
          <a:xfrm>
            <a:off x="5401491" y="1737360"/>
            <a:ext cx="1385969" cy="1463040"/>
          </a:xfrm>
          <a:prstGeom prst="roundRect">
            <a:avLst>
              <a:gd name="adj" fmla="val 3299"/>
            </a:avLst>
          </a:prstGeom>
          <a:solidFill>
            <a:srgbClr val="0F2A4A"/>
          </a:solidFill>
          <a:ln w="9525">
            <a:solidFill>
              <a:srgbClr val="1E4470"/>
            </a:solidFill>
            <a:prstDash val="solid"/>
          </a:ln>
        </p:spPr>
      </p:sp>
      <p:sp>
        <p:nvSpPr>
          <p:cNvPr id="20" name="Text 18"/>
          <p:cNvSpPr/>
          <p:nvPr/>
        </p:nvSpPr>
        <p:spPr>
          <a:xfrm>
            <a:off x="5547795"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04</a:t>
            </a:r>
            <a:endParaRPr lang="en-US" sz="900" dirty="0"/>
          </a:p>
        </p:txBody>
      </p:sp>
      <p:sp>
        <p:nvSpPr>
          <p:cNvPr id="21" name="Text 19"/>
          <p:cNvSpPr/>
          <p:nvPr/>
        </p:nvSpPr>
        <p:spPr>
          <a:xfrm>
            <a:off x="5511219"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XGBoost scorer</a:t>
            </a:r>
            <a:endParaRPr lang="en-US" sz="1250" dirty="0"/>
          </a:p>
        </p:txBody>
      </p:sp>
      <p:sp>
        <p:nvSpPr>
          <p:cNvPr id="22" name="Text 20"/>
          <p:cNvSpPr/>
          <p:nvPr/>
        </p:nvSpPr>
        <p:spPr>
          <a:xfrm>
            <a:off x="5511219"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Continuous agent risk score</a:t>
            </a:r>
            <a:endParaRPr lang="en-US" sz="950" dirty="0"/>
          </a:p>
        </p:txBody>
      </p:sp>
      <p:sp>
        <p:nvSpPr>
          <p:cNvPr id="23" name="Shape 21"/>
          <p:cNvSpPr/>
          <p:nvPr/>
        </p:nvSpPr>
        <p:spPr>
          <a:xfrm>
            <a:off x="6824037" y="2468880"/>
            <a:ext cx="128016" cy="0"/>
          </a:xfrm>
          <a:prstGeom prst="line">
            <a:avLst/>
          </a:prstGeom>
          <a:noFill/>
          <a:ln w="15875">
            <a:solidFill>
              <a:srgbClr val="016FD0"/>
            </a:solidFill>
            <a:prstDash val="solid"/>
            <a:tailEnd type="triangle"/>
          </a:ln>
        </p:spPr>
      </p:sp>
      <p:sp>
        <p:nvSpPr>
          <p:cNvPr id="24" name="Shape 22"/>
          <p:cNvSpPr/>
          <p:nvPr/>
        </p:nvSpPr>
        <p:spPr>
          <a:xfrm>
            <a:off x="6988629" y="1737360"/>
            <a:ext cx="1385969" cy="1463040"/>
          </a:xfrm>
          <a:prstGeom prst="roundRect">
            <a:avLst>
              <a:gd name="adj" fmla="val 3299"/>
            </a:avLst>
          </a:prstGeom>
          <a:solidFill>
            <a:srgbClr val="081A31"/>
          </a:solidFill>
          <a:ln w="15875">
            <a:solidFill>
              <a:srgbClr val="C8A951"/>
            </a:solidFill>
            <a:prstDash val="solid"/>
          </a:ln>
        </p:spPr>
      </p:sp>
      <p:sp>
        <p:nvSpPr>
          <p:cNvPr id="25" name="Text 23"/>
          <p:cNvSpPr/>
          <p:nvPr/>
        </p:nvSpPr>
        <p:spPr>
          <a:xfrm>
            <a:off x="7134933"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C8A951"/>
                </a:solidFill>
                <a:latin typeface="Calibri" pitchFamily="34" charset="0"/>
                <a:ea typeface="Calibri" pitchFamily="34" charset="-122"/>
                <a:cs typeface="Calibri" pitchFamily="34" charset="-120"/>
              </a:rPr>
              <a:t>05</a:t>
            </a:r>
            <a:endParaRPr lang="en-US" sz="900" dirty="0"/>
          </a:p>
        </p:txBody>
      </p:sp>
      <p:sp>
        <p:nvSpPr>
          <p:cNvPr id="26" name="Text 24"/>
          <p:cNvSpPr/>
          <p:nvPr/>
        </p:nvSpPr>
        <p:spPr>
          <a:xfrm>
            <a:off x="7098357"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OPA + Redis</a:t>
            </a:r>
            <a:endParaRPr lang="en-US" sz="1250" dirty="0"/>
          </a:p>
        </p:txBody>
      </p:sp>
      <p:sp>
        <p:nvSpPr>
          <p:cNvPr id="27" name="Text 25"/>
          <p:cNvSpPr/>
          <p:nvPr/>
        </p:nvSpPr>
        <p:spPr>
          <a:xfrm>
            <a:off x="7098357"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C8A951"/>
                </a:solidFill>
                <a:latin typeface="Calibri" pitchFamily="34" charset="0"/>
                <a:ea typeface="Calibri" pitchFamily="34" charset="-122"/>
                <a:cs typeface="Calibri" pitchFamily="34" charset="-120"/>
              </a:rPr>
              <a:t>Allow, cap or decline in-path</a:t>
            </a:r>
            <a:endParaRPr lang="en-US" sz="950" dirty="0"/>
          </a:p>
        </p:txBody>
      </p:sp>
      <p:sp>
        <p:nvSpPr>
          <p:cNvPr id="28" name="Shape 26"/>
          <p:cNvSpPr/>
          <p:nvPr/>
        </p:nvSpPr>
        <p:spPr>
          <a:xfrm>
            <a:off x="8411174" y="2468880"/>
            <a:ext cx="128016" cy="0"/>
          </a:xfrm>
          <a:prstGeom prst="line">
            <a:avLst/>
          </a:prstGeom>
          <a:noFill/>
          <a:ln w="15875">
            <a:solidFill>
              <a:srgbClr val="016FD0"/>
            </a:solidFill>
            <a:prstDash val="solid"/>
            <a:tailEnd type="triangle"/>
          </a:ln>
        </p:spPr>
      </p:sp>
      <p:sp>
        <p:nvSpPr>
          <p:cNvPr id="29" name="Shape 27"/>
          <p:cNvSpPr/>
          <p:nvPr/>
        </p:nvSpPr>
        <p:spPr>
          <a:xfrm>
            <a:off x="8575766" y="1737360"/>
            <a:ext cx="1385969" cy="1463040"/>
          </a:xfrm>
          <a:prstGeom prst="roundRect">
            <a:avLst>
              <a:gd name="adj" fmla="val 3299"/>
            </a:avLst>
          </a:prstGeom>
          <a:solidFill>
            <a:srgbClr val="0F2A4A"/>
          </a:solidFill>
          <a:ln w="9525">
            <a:solidFill>
              <a:srgbClr val="1E4470"/>
            </a:solidFill>
            <a:prstDash val="solid"/>
          </a:ln>
        </p:spPr>
      </p:sp>
      <p:sp>
        <p:nvSpPr>
          <p:cNvPr id="30" name="Text 28"/>
          <p:cNvSpPr/>
          <p:nvPr/>
        </p:nvSpPr>
        <p:spPr>
          <a:xfrm>
            <a:off x="8722070"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06</a:t>
            </a:r>
            <a:endParaRPr lang="en-US" sz="900" dirty="0"/>
          </a:p>
        </p:txBody>
      </p:sp>
      <p:sp>
        <p:nvSpPr>
          <p:cNvPr id="31" name="Text 29"/>
          <p:cNvSpPr/>
          <p:nvPr/>
        </p:nvSpPr>
        <p:spPr>
          <a:xfrm>
            <a:off x="8685494"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32" name="Text 30"/>
          <p:cNvSpPr/>
          <p:nvPr/>
        </p:nvSpPr>
        <p:spPr>
          <a:xfrm>
            <a:off x="8685494"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Registry and hash-chained audit</a:t>
            </a:r>
            <a:endParaRPr lang="en-US" sz="950" dirty="0"/>
          </a:p>
        </p:txBody>
      </p:sp>
      <p:sp>
        <p:nvSpPr>
          <p:cNvPr id="33" name="Shape 31"/>
          <p:cNvSpPr/>
          <p:nvPr/>
        </p:nvSpPr>
        <p:spPr>
          <a:xfrm>
            <a:off x="9998311" y="2468880"/>
            <a:ext cx="128016" cy="0"/>
          </a:xfrm>
          <a:prstGeom prst="line">
            <a:avLst/>
          </a:prstGeom>
          <a:noFill/>
          <a:ln w="15875">
            <a:solidFill>
              <a:srgbClr val="016FD0"/>
            </a:solidFill>
            <a:prstDash val="solid"/>
            <a:tailEnd type="triangle"/>
          </a:ln>
        </p:spPr>
      </p:sp>
      <p:sp>
        <p:nvSpPr>
          <p:cNvPr id="34" name="Shape 32"/>
          <p:cNvSpPr/>
          <p:nvPr/>
        </p:nvSpPr>
        <p:spPr>
          <a:xfrm>
            <a:off x="10162903" y="1737360"/>
            <a:ext cx="1385969" cy="1463040"/>
          </a:xfrm>
          <a:prstGeom prst="roundRect">
            <a:avLst>
              <a:gd name="adj" fmla="val 3299"/>
            </a:avLst>
          </a:prstGeom>
          <a:solidFill>
            <a:srgbClr val="0F2A4A"/>
          </a:solidFill>
          <a:ln w="9525">
            <a:solidFill>
              <a:srgbClr val="1E4470"/>
            </a:solidFill>
            <a:prstDash val="solid"/>
          </a:ln>
        </p:spPr>
      </p:sp>
      <p:sp>
        <p:nvSpPr>
          <p:cNvPr id="35" name="Text 33"/>
          <p:cNvSpPr/>
          <p:nvPr/>
        </p:nvSpPr>
        <p:spPr>
          <a:xfrm>
            <a:off x="10309207" y="1883664"/>
            <a:ext cx="1093361" cy="201168"/>
          </a:xfrm>
          <a:prstGeom prst="rect">
            <a:avLst/>
          </a:prstGeom>
          <a:noFill/>
          <a:ln/>
        </p:spPr>
        <p:txBody>
          <a:bodyPr wrap="square" lIns="0" tIns="0" rIns="0" bIns="0" rtlCol="0" anchor="ctr"/>
          <a:lstStyle/>
          <a:p>
            <a:pPr algn="ctr" indent="0" marL="0">
              <a:buNone/>
            </a:pPr>
            <a:r>
              <a:rPr lang="en-US" sz="900" b="1" spc="120" kern="0" dirty="0">
                <a:solidFill>
                  <a:srgbClr val="7E97B5"/>
                </a:solidFill>
                <a:latin typeface="Calibri" pitchFamily="34" charset="0"/>
                <a:ea typeface="Calibri" pitchFamily="34" charset="-122"/>
                <a:cs typeface="Calibri" pitchFamily="34" charset="-120"/>
              </a:rPr>
              <a:t>07</a:t>
            </a:r>
            <a:endParaRPr lang="en-US" sz="900" dirty="0"/>
          </a:p>
        </p:txBody>
      </p:sp>
      <p:sp>
        <p:nvSpPr>
          <p:cNvPr id="36" name="Text 34"/>
          <p:cNvSpPr/>
          <p:nvPr/>
        </p:nvSpPr>
        <p:spPr>
          <a:xfrm>
            <a:off x="10272631" y="2139696"/>
            <a:ext cx="1166513" cy="45720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React console</a:t>
            </a:r>
            <a:endParaRPr lang="en-US" sz="1250" dirty="0"/>
          </a:p>
        </p:txBody>
      </p:sp>
      <p:sp>
        <p:nvSpPr>
          <p:cNvPr id="37" name="Text 35"/>
          <p:cNvSpPr/>
          <p:nvPr/>
        </p:nvSpPr>
        <p:spPr>
          <a:xfrm>
            <a:off x="10272631" y="2633472"/>
            <a:ext cx="1166513" cy="457200"/>
          </a:xfrm>
          <a:prstGeom prst="rect">
            <a:avLst/>
          </a:prstGeom>
          <a:noFill/>
          <a:ln/>
        </p:spPr>
        <p:txBody>
          <a:bodyPr wrap="square" lIns="0" tIns="0" rIns="0" bIns="0" rtlCol="0" anchor="ctr"/>
          <a:lstStyle/>
          <a:p>
            <a:pPr algn="ctr" indent="0" marL="0">
              <a:lnSpc>
                <a:spcPts val="1200"/>
              </a:lnSpc>
              <a:buNone/>
            </a:pPr>
            <a:r>
              <a:rPr lang="en-US" sz="950" dirty="0">
                <a:solidFill>
                  <a:srgbClr val="7E97B5"/>
                </a:solidFill>
                <a:latin typeface="Calibri" pitchFamily="34" charset="0"/>
                <a:ea typeface="Calibri" pitchFamily="34" charset="-122"/>
                <a:cs typeface="Calibri" pitchFamily="34" charset="-120"/>
              </a:rPr>
              <a:t>FastAPI + WebSocket live view</a:t>
            </a:r>
            <a:endParaRPr lang="en-US" sz="950" dirty="0"/>
          </a:p>
        </p:txBody>
      </p:sp>
      <p:sp>
        <p:nvSpPr>
          <p:cNvPr id="38" name="Shape 36"/>
          <p:cNvSpPr/>
          <p:nvPr/>
        </p:nvSpPr>
        <p:spPr>
          <a:xfrm>
            <a:off x="3814354" y="3401568"/>
            <a:ext cx="4560243" cy="0"/>
          </a:xfrm>
          <a:prstGeom prst="line">
            <a:avLst/>
          </a:prstGeom>
          <a:noFill/>
          <a:ln w="12700">
            <a:solidFill>
              <a:srgbClr val="C8A951"/>
            </a:solidFill>
            <a:prstDash val="solid"/>
          </a:ln>
        </p:spPr>
      </p:sp>
      <p:sp>
        <p:nvSpPr>
          <p:cNvPr id="39" name="Shape 37"/>
          <p:cNvSpPr/>
          <p:nvPr/>
        </p:nvSpPr>
        <p:spPr>
          <a:xfrm>
            <a:off x="3494314" y="3474720"/>
            <a:ext cx="5200323" cy="329184"/>
          </a:xfrm>
          <a:prstGeom prst="roundRect">
            <a:avLst>
              <a:gd name="adj" fmla="val 13889"/>
            </a:avLst>
          </a:prstGeom>
          <a:solidFill>
            <a:srgbClr val="C8A951">
              <a:alpha val="12000"/>
            </a:srgbClr>
          </a:solidFill>
          <a:ln w="12700">
            <a:solidFill>
              <a:srgbClr val="C8A951"/>
            </a:solidFill>
            <a:prstDash val="solid"/>
          </a:ln>
        </p:spPr>
      </p:sp>
      <p:sp>
        <p:nvSpPr>
          <p:cNvPr id="40" name="Text 38"/>
          <p:cNvSpPr/>
          <p:nvPr/>
        </p:nvSpPr>
        <p:spPr>
          <a:xfrm>
            <a:off x="3494314" y="3474720"/>
            <a:ext cx="5200323" cy="329184"/>
          </a:xfrm>
          <a:prstGeom prst="rect">
            <a:avLst/>
          </a:prstGeom>
          <a:noFill/>
          <a:ln/>
        </p:spPr>
        <p:txBody>
          <a:bodyPr wrap="square" lIns="0" tIns="0" rIns="0" bIns="0" rtlCol="0" anchor="ctr"/>
          <a:lstStyle/>
          <a:p>
            <a:pPr algn="ctr" indent="0" marL="0">
              <a:buNone/>
            </a:pPr>
            <a:r>
              <a:rPr lang="en-US" sz="1050" b="1" dirty="0">
                <a:solidFill>
                  <a:srgbClr val="C8A951"/>
                </a:solidFill>
                <a:latin typeface="Calibri" pitchFamily="34" charset="0"/>
                <a:ea typeface="Calibri" pitchFamily="34" charset="-122"/>
                <a:cs typeface="Calibri" pitchFamily="34" charset="-120"/>
              </a:rPr>
              <a:t>Target: &lt;10 ms p99 policy decisions @ 10K agents  ·  designed for sub-10ms p99 enforcement</a:t>
            </a:r>
            <a:endParaRPr lang="en-US" sz="1050" dirty="0"/>
          </a:p>
        </p:txBody>
      </p:sp>
      <p:sp>
        <p:nvSpPr>
          <p:cNvPr id="41" name="Shape 39"/>
          <p:cNvSpPr/>
          <p:nvPr/>
        </p:nvSpPr>
        <p:spPr>
          <a:xfrm>
            <a:off x="640080" y="3977640"/>
            <a:ext cx="3392424" cy="1298448"/>
          </a:xfrm>
          <a:prstGeom prst="roundRect">
            <a:avLst>
              <a:gd name="adj" fmla="val 3521"/>
            </a:avLst>
          </a:prstGeom>
          <a:solidFill>
            <a:srgbClr val="0F2A4A"/>
          </a:solidFill>
          <a:ln w="9525">
            <a:solidFill>
              <a:srgbClr val="1E4470"/>
            </a:solidFill>
            <a:prstDash val="solid"/>
          </a:ln>
        </p:spPr>
      </p:sp>
      <p:sp>
        <p:nvSpPr>
          <p:cNvPr id="42" name="Text 40"/>
          <p:cNvSpPr/>
          <p:nvPr/>
        </p:nvSpPr>
        <p:spPr>
          <a:xfrm>
            <a:off x="896112" y="4178808"/>
            <a:ext cx="288036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Stateless enforcement path</a:t>
            </a:r>
            <a:endParaRPr lang="en-US" sz="1350" dirty="0"/>
          </a:p>
        </p:txBody>
      </p:sp>
      <p:sp>
        <p:nvSpPr>
          <p:cNvPr id="43" name="Text 41"/>
          <p:cNvSpPr/>
          <p:nvPr/>
        </p:nvSpPr>
        <p:spPr>
          <a:xfrm>
            <a:off x="896112" y="4489704"/>
            <a:ext cx="2880360" cy="658368"/>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The policy decision needs no session state, so it scales horizontally and is designed to hold the latency target under load.</a:t>
            </a:r>
            <a:endParaRPr lang="en-US" sz="1150" dirty="0"/>
          </a:p>
        </p:txBody>
      </p:sp>
      <p:sp>
        <p:nvSpPr>
          <p:cNvPr id="44" name="Shape 42"/>
          <p:cNvSpPr/>
          <p:nvPr/>
        </p:nvSpPr>
        <p:spPr>
          <a:xfrm>
            <a:off x="4398264" y="3977640"/>
            <a:ext cx="3392424" cy="1298448"/>
          </a:xfrm>
          <a:prstGeom prst="roundRect">
            <a:avLst>
              <a:gd name="adj" fmla="val 3521"/>
            </a:avLst>
          </a:prstGeom>
          <a:solidFill>
            <a:srgbClr val="0F2A4A"/>
          </a:solidFill>
          <a:ln w="9525">
            <a:solidFill>
              <a:srgbClr val="1E4470"/>
            </a:solidFill>
            <a:prstDash val="solid"/>
          </a:ln>
        </p:spPr>
      </p:sp>
      <p:sp>
        <p:nvSpPr>
          <p:cNvPr id="45" name="Text 43"/>
          <p:cNvSpPr/>
          <p:nvPr/>
        </p:nvSpPr>
        <p:spPr>
          <a:xfrm>
            <a:off x="4654296" y="4178808"/>
            <a:ext cx="288036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Tamper-evident by construction</a:t>
            </a:r>
            <a:endParaRPr lang="en-US" sz="1350" dirty="0"/>
          </a:p>
        </p:txBody>
      </p:sp>
      <p:sp>
        <p:nvSpPr>
          <p:cNvPr id="46" name="Text 44"/>
          <p:cNvSpPr/>
          <p:nvPr/>
        </p:nvSpPr>
        <p:spPr>
          <a:xfrm>
            <a:off x="4654296" y="4489704"/>
            <a:ext cx="2880360" cy="658368"/>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Each audit record hashes the previous one. Editing a single row provably breaks the chain.</a:t>
            </a:r>
            <a:endParaRPr lang="en-US" sz="1150" dirty="0"/>
          </a:p>
        </p:txBody>
      </p:sp>
      <p:sp>
        <p:nvSpPr>
          <p:cNvPr id="47" name="Shape 45"/>
          <p:cNvSpPr/>
          <p:nvPr/>
        </p:nvSpPr>
        <p:spPr>
          <a:xfrm>
            <a:off x="8156448" y="3977640"/>
            <a:ext cx="3392424" cy="1298448"/>
          </a:xfrm>
          <a:prstGeom prst="roundRect">
            <a:avLst>
              <a:gd name="adj" fmla="val 3521"/>
            </a:avLst>
          </a:prstGeom>
          <a:solidFill>
            <a:srgbClr val="0F2A4A"/>
          </a:solidFill>
          <a:ln w="9525">
            <a:solidFill>
              <a:srgbClr val="1E4470"/>
            </a:solidFill>
            <a:prstDash val="solid"/>
          </a:ln>
        </p:spPr>
      </p:sp>
      <p:sp>
        <p:nvSpPr>
          <p:cNvPr id="48" name="Text 46"/>
          <p:cNvSpPr/>
          <p:nvPr/>
        </p:nvSpPr>
        <p:spPr>
          <a:xfrm>
            <a:off x="8412480" y="4178808"/>
            <a:ext cx="288036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Aligned to NIST AI RMF</a:t>
            </a:r>
            <a:endParaRPr lang="en-US" sz="1350" dirty="0"/>
          </a:p>
        </p:txBody>
      </p:sp>
      <p:sp>
        <p:nvSpPr>
          <p:cNvPr id="49" name="Text 47"/>
          <p:cNvSpPr/>
          <p:nvPr/>
        </p:nvSpPr>
        <p:spPr>
          <a:xfrm>
            <a:off x="8412480" y="4489704"/>
            <a:ext cx="2880360" cy="658368"/>
          </a:xfrm>
          <a:prstGeom prst="rect">
            <a:avLst/>
          </a:prstGeom>
          <a:noFill/>
          <a:ln/>
        </p:spPr>
        <p:txBody>
          <a:bodyPr wrap="square" lIns="0" tIns="0" rIns="0" bIns="0" rtlCol="0" anchor="ctr"/>
          <a:lstStyle/>
          <a:p>
            <a:pPr indent="0" marL="0">
              <a:lnSpc>
                <a:spcPts val="1500"/>
              </a:lnSpc>
              <a:buNone/>
            </a:pPr>
            <a:r>
              <a:rPr lang="en-US" sz="1150" dirty="0">
                <a:solidFill>
                  <a:srgbClr val="BFD0E4"/>
                </a:solidFill>
                <a:latin typeface="Calibri" pitchFamily="34" charset="0"/>
                <a:ea typeface="Calibri" pitchFamily="34" charset="-122"/>
                <a:cs typeface="Calibri" pitchFamily="34" charset="-120"/>
              </a:rPr>
              <a:t>Mapped to the Govern and Manage functions, so the control story survives a real risk review.</a:t>
            </a:r>
            <a:endParaRPr lang="en-US" sz="1150" dirty="0"/>
          </a:p>
        </p:txBody>
      </p:sp>
      <p:sp>
        <p:nvSpPr>
          <p:cNvPr id="50" name="Text 48"/>
          <p:cNvSpPr/>
          <p:nvPr/>
        </p:nvSpPr>
        <p:spPr>
          <a:xfrm>
            <a:off x="640080" y="5422392"/>
            <a:ext cx="10908792" cy="292608"/>
          </a:xfrm>
          <a:prstGeom prst="rect">
            <a:avLst/>
          </a:prstGeom>
          <a:noFill/>
          <a:ln/>
        </p:spPr>
        <p:txBody>
          <a:bodyPr wrap="square" lIns="0" tIns="0" rIns="0" bIns="0" rtlCol="0" anchor="ctr"/>
          <a:lstStyle/>
          <a:p>
            <a:pPr indent="0" marL="0">
              <a:buNone/>
            </a:pPr>
            <a:r>
              <a:rPr lang="en-US" sz="1100" spc="40" kern="0" dirty="0">
                <a:solidFill>
                  <a:srgbClr val="7E97B5"/>
                </a:solidFill>
                <a:latin typeface="Calibri" pitchFamily="34" charset="0"/>
                <a:ea typeface="Calibri" pitchFamily="34" charset="-122"/>
                <a:cs typeface="Calibri" pitchFamily="34" charset="-120"/>
              </a:rPr>
              <a:t>Kafka   ·   XGBoost   ·   Open Policy Agent   ·   FastAPI   ·   Redis   ·   PostgreSQL   ·   React        No exotic dependencies: every component is buildable inside the Round 2 window.</a:t>
            </a:r>
            <a:endParaRPr lang="en-US" sz="1100" dirty="0"/>
          </a:p>
        </p:txBody>
      </p:sp>
      <p:sp>
        <p:nvSpPr>
          <p:cNvPr id="51" name="Text 49"/>
          <p:cNvSpPr/>
          <p:nvPr/>
        </p:nvSpPr>
        <p:spPr>
          <a:xfrm>
            <a:off x="640080" y="5998464"/>
            <a:ext cx="10908792" cy="256032"/>
          </a:xfrm>
          <a:prstGeom prst="rect">
            <a:avLst/>
          </a:prstGeom>
          <a:noFill/>
          <a:ln/>
        </p:spPr>
        <p:txBody>
          <a:bodyPr wrap="square" lIns="0" tIns="0" rIns="0" bIns="0" rtlCol="0" anchor="ctr"/>
          <a:lstStyle/>
          <a:p>
            <a:pPr indent="0" marL="0">
              <a:buNone/>
            </a:pPr>
            <a:r>
              <a:rPr lang="en-US" sz="850" i="1" dirty="0">
                <a:solidFill>
                  <a:srgbClr val="6B85A3"/>
                </a:solidFill>
                <a:latin typeface="Calibri" pitchFamily="34" charset="0"/>
                <a:ea typeface="Calibri" pitchFamily="34" charset="-122"/>
                <a:cs typeface="Calibri" pitchFamily="34" charset="-120"/>
              </a:rPr>
              <a:t>References: Open Policy Agent documentation  ·  NIST AI Risk Management Framework (Govern, Manage).</a:t>
            </a:r>
            <a:endParaRPr lang="en-US" sz="850" dirty="0"/>
          </a:p>
        </p:txBody>
      </p:sp>
      <p:sp>
        <p:nvSpPr>
          <p:cNvPr id="52" name="Text 50"/>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53" name="Text 51"/>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07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BUSINESS VALUE</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Trust as a Product, Not a Cost Centre</a:t>
            </a:r>
            <a:endParaRPr lang="en-US" sz="3400" dirty="0"/>
          </a:p>
        </p:txBody>
      </p:sp>
      <p:sp>
        <p:nvSpPr>
          <p:cNvPr id="4" name="Shape 2"/>
          <p:cNvSpPr/>
          <p:nvPr/>
        </p:nvSpPr>
        <p:spPr>
          <a:xfrm>
            <a:off x="640080" y="1737360"/>
            <a:ext cx="10908792" cy="822960"/>
          </a:xfrm>
          <a:prstGeom prst="roundRect">
            <a:avLst>
              <a:gd name="adj" fmla="val 5556"/>
            </a:avLst>
          </a:prstGeom>
          <a:solidFill>
            <a:srgbClr val="0F2A4A"/>
          </a:solidFill>
          <a:ln w="9525">
            <a:solidFill>
              <a:srgbClr val="1E4470"/>
            </a:solidFill>
            <a:prstDash val="solid"/>
          </a:ln>
        </p:spPr>
      </p:sp>
      <p:sp>
        <p:nvSpPr>
          <p:cNvPr id="5" name="Text 3"/>
          <p:cNvSpPr/>
          <p:nvPr/>
        </p:nvSpPr>
        <p:spPr>
          <a:xfrm>
            <a:off x="932688" y="1975104"/>
            <a:ext cx="457200" cy="365760"/>
          </a:xfrm>
          <a:prstGeom prst="rect">
            <a:avLst/>
          </a:prstGeom>
          <a:noFill/>
          <a:ln/>
        </p:spPr>
        <p:txBody>
          <a:bodyPr wrap="square" lIns="0" tIns="0" rIns="0" bIns="0" rtlCol="0" anchor="ctr"/>
          <a:lstStyle/>
          <a:p>
            <a:pPr indent="0" marL="0">
              <a:buNone/>
            </a:pPr>
            <a:r>
              <a:rPr lang="en-US" sz="1700" b="1" dirty="0">
                <a:solidFill>
                  <a:srgbClr val="7E97B5"/>
                </a:solidFill>
                <a:latin typeface="Cambria" pitchFamily="34" charset="0"/>
                <a:ea typeface="Cambria" pitchFamily="34" charset="-122"/>
                <a:cs typeface="Cambria" pitchFamily="34" charset="-120"/>
              </a:rPr>
              <a:t>01</a:t>
            </a:r>
            <a:endParaRPr lang="en-US" sz="1700" dirty="0"/>
          </a:p>
        </p:txBody>
      </p:sp>
      <p:sp>
        <p:nvSpPr>
          <p:cNvPr id="6" name="Text 4"/>
          <p:cNvSpPr/>
          <p:nvPr/>
        </p:nvSpPr>
        <p:spPr>
          <a:xfrm>
            <a:off x="1508760" y="1847088"/>
            <a:ext cx="3931920" cy="649224"/>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Makes Agent Purchase Protection sustainable</a:t>
            </a:r>
            <a:endParaRPr lang="en-US" sz="1450" dirty="0"/>
          </a:p>
        </p:txBody>
      </p:sp>
      <p:sp>
        <p:nvSpPr>
          <p:cNvPr id="7" name="Text 5"/>
          <p:cNvSpPr/>
          <p:nvPr/>
        </p:nvSpPr>
        <p:spPr>
          <a:xfrm>
            <a:off x="5577840" y="1828800"/>
            <a:ext cx="4160520" cy="68580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Every registered agent carries a priced, capped maximum loss instead of open-ended exposure.</a:t>
            </a:r>
            <a:endParaRPr lang="en-US" sz="1200" dirty="0"/>
          </a:p>
        </p:txBody>
      </p:sp>
      <p:sp>
        <p:nvSpPr>
          <p:cNvPr id="8" name="Text 6"/>
          <p:cNvSpPr/>
          <p:nvPr/>
        </p:nvSpPr>
        <p:spPr>
          <a:xfrm>
            <a:off x="9875520" y="1828800"/>
            <a:ext cx="1444752" cy="685800"/>
          </a:xfrm>
          <a:prstGeom prst="rect">
            <a:avLst/>
          </a:prstGeom>
          <a:noFill/>
          <a:ln/>
        </p:spPr>
        <p:txBody>
          <a:bodyPr wrap="square" lIns="0" tIns="0" rIns="0" bIns="0" rtlCol="0" anchor="ctr"/>
          <a:lstStyle/>
          <a:p>
            <a:pPr algn="r" indent="0" marL="0">
              <a:lnSpc>
                <a:spcPts val="1500"/>
              </a:lnSpc>
              <a:buNone/>
            </a:pPr>
            <a:r>
              <a:rPr lang="en-US" sz="1150" b="1" dirty="0">
                <a:solidFill>
                  <a:srgbClr val="C8A951"/>
                </a:solidFill>
                <a:latin typeface="Calibri" pitchFamily="34" charset="0"/>
                <a:ea typeface="Calibri" pitchFamily="34" charset="-122"/>
                <a:cs typeface="Calibri" pitchFamily="34" charset="-120"/>
              </a:rPr>
              <a:t>Loss ratio becomes forecastable</a:t>
            </a:r>
            <a:endParaRPr lang="en-US" sz="1150" dirty="0"/>
          </a:p>
        </p:txBody>
      </p:sp>
      <p:sp>
        <p:nvSpPr>
          <p:cNvPr id="9" name="Shape 7"/>
          <p:cNvSpPr/>
          <p:nvPr/>
        </p:nvSpPr>
        <p:spPr>
          <a:xfrm>
            <a:off x="640080" y="2706624"/>
            <a:ext cx="10908792" cy="822960"/>
          </a:xfrm>
          <a:prstGeom prst="roundRect">
            <a:avLst>
              <a:gd name="adj" fmla="val 5556"/>
            </a:avLst>
          </a:prstGeom>
          <a:solidFill>
            <a:srgbClr val="0F2A4A"/>
          </a:solidFill>
          <a:ln w="9525">
            <a:solidFill>
              <a:srgbClr val="1E4470"/>
            </a:solidFill>
            <a:prstDash val="solid"/>
          </a:ln>
        </p:spPr>
      </p:sp>
      <p:sp>
        <p:nvSpPr>
          <p:cNvPr id="10" name="Text 8"/>
          <p:cNvSpPr/>
          <p:nvPr/>
        </p:nvSpPr>
        <p:spPr>
          <a:xfrm>
            <a:off x="932688" y="2944368"/>
            <a:ext cx="457200" cy="365760"/>
          </a:xfrm>
          <a:prstGeom prst="rect">
            <a:avLst/>
          </a:prstGeom>
          <a:noFill/>
          <a:ln/>
        </p:spPr>
        <p:txBody>
          <a:bodyPr wrap="square" lIns="0" tIns="0" rIns="0" bIns="0" rtlCol="0" anchor="ctr"/>
          <a:lstStyle/>
          <a:p>
            <a:pPr indent="0" marL="0">
              <a:buNone/>
            </a:pPr>
            <a:r>
              <a:rPr lang="en-US" sz="1700" b="1" dirty="0">
                <a:solidFill>
                  <a:srgbClr val="7E97B5"/>
                </a:solidFill>
                <a:latin typeface="Cambria" pitchFamily="34" charset="0"/>
                <a:ea typeface="Cambria" pitchFamily="34" charset="-122"/>
                <a:cs typeface="Cambria" pitchFamily="34" charset="-120"/>
              </a:rPr>
              <a:t>02</a:t>
            </a:r>
            <a:endParaRPr lang="en-US" sz="1700" dirty="0"/>
          </a:p>
        </p:txBody>
      </p:sp>
      <p:sp>
        <p:nvSpPr>
          <p:cNvPr id="11" name="Text 9"/>
          <p:cNvSpPr/>
          <p:nvPr/>
        </p:nvSpPr>
        <p:spPr>
          <a:xfrm>
            <a:off x="1508760" y="2816352"/>
            <a:ext cx="3931920" cy="649224"/>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Cuts the cost of every agent dispute</a:t>
            </a:r>
            <a:endParaRPr lang="en-US" sz="1450" dirty="0"/>
          </a:p>
        </p:txBody>
      </p:sp>
      <p:sp>
        <p:nvSpPr>
          <p:cNvPr id="12" name="Text 10"/>
          <p:cNvSpPr/>
          <p:nvPr/>
        </p:nvSpPr>
        <p:spPr>
          <a:xfrm>
            <a:off x="5577840" y="2798064"/>
            <a:ext cx="4160520" cy="68580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Claims Packages arrive pre-assembled and aligned to Amex chargeback reason codes, so resolution starts with evidence in hand.</a:t>
            </a:r>
            <a:endParaRPr lang="en-US" sz="1200" dirty="0"/>
          </a:p>
        </p:txBody>
      </p:sp>
      <p:sp>
        <p:nvSpPr>
          <p:cNvPr id="13" name="Text 11"/>
          <p:cNvSpPr/>
          <p:nvPr/>
        </p:nvSpPr>
        <p:spPr>
          <a:xfrm>
            <a:off x="9875520" y="2798064"/>
            <a:ext cx="1444752" cy="685800"/>
          </a:xfrm>
          <a:prstGeom prst="rect">
            <a:avLst/>
          </a:prstGeom>
          <a:noFill/>
          <a:ln/>
        </p:spPr>
        <p:txBody>
          <a:bodyPr wrap="square" lIns="0" tIns="0" rIns="0" bIns="0" rtlCol="0" anchor="ctr"/>
          <a:lstStyle/>
          <a:p>
            <a:pPr algn="r" indent="0" marL="0">
              <a:lnSpc>
                <a:spcPts val="1500"/>
              </a:lnSpc>
              <a:buNone/>
            </a:pPr>
            <a:r>
              <a:rPr lang="en-US" sz="1150" b="1" dirty="0">
                <a:solidFill>
                  <a:srgbClr val="C8A951"/>
                </a:solidFill>
                <a:latin typeface="Calibri" pitchFamily="34" charset="0"/>
                <a:ea typeface="Calibri" pitchFamily="34" charset="-122"/>
                <a:cs typeface="Calibri" pitchFamily="34" charset="-120"/>
              </a:rPr>
              <a:t>Lower handling cost per case</a:t>
            </a:r>
            <a:endParaRPr lang="en-US" sz="1150" dirty="0"/>
          </a:p>
        </p:txBody>
      </p:sp>
      <p:sp>
        <p:nvSpPr>
          <p:cNvPr id="14" name="Shape 12"/>
          <p:cNvSpPr/>
          <p:nvPr/>
        </p:nvSpPr>
        <p:spPr>
          <a:xfrm>
            <a:off x="640080" y="3675888"/>
            <a:ext cx="10908792" cy="822960"/>
          </a:xfrm>
          <a:prstGeom prst="roundRect">
            <a:avLst>
              <a:gd name="adj" fmla="val 5556"/>
            </a:avLst>
          </a:prstGeom>
          <a:solidFill>
            <a:srgbClr val="081A31"/>
          </a:solidFill>
          <a:ln w="12700">
            <a:solidFill>
              <a:srgbClr val="C8A951"/>
            </a:solidFill>
            <a:prstDash val="solid"/>
          </a:ln>
        </p:spPr>
      </p:sp>
      <p:sp>
        <p:nvSpPr>
          <p:cNvPr id="15" name="Text 13"/>
          <p:cNvSpPr/>
          <p:nvPr/>
        </p:nvSpPr>
        <p:spPr>
          <a:xfrm>
            <a:off x="932688" y="3913632"/>
            <a:ext cx="457200" cy="365760"/>
          </a:xfrm>
          <a:prstGeom prst="rect">
            <a:avLst/>
          </a:prstGeom>
          <a:noFill/>
          <a:ln/>
        </p:spPr>
        <p:txBody>
          <a:bodyPr wrap="square" lIns="0" tIns="0" rIns="0" bIns="0" rtlCol="0" anchor="ctr"/>
          <a:lstStyle/>
          <a:p>
            <a:pPr indent="0" marL="0">
              <a:buNone/>
            </a:pPr>
            <a:r>
              <a:rPr lang="en-US" sz="1700" b="1" dirty="0">
                <a:solidFill>
                  <a:srgbClr val="C8A951"/>
                </a:solidFill>
                <a:latin typeface="Cambria" pitchFamily="34" charset="0"/>
                <a:ea typeface="Cambria" pitchFamily="34" charset="-122"/>
                <a:cs typeface="Cambria" pitchFamily="34" charset="-120"/>
              </a:rPr>
              <a:t>03</a:t>
            </a:r>
            <a:endParaRPr lang="en-US" sz="1700" dirty="0"/>
          </a:p>
        </p:txBody>
      </p:sp>
      <p:sp>
        <p:nvSpPr>
          <p:cNvPr id="16" name="Text 14"/>
          <p:cNvSpPr/>
          <p:nvPr/>
        </p:nvSpPr>
        <p:spPr>
          <a:xfrm>
            <a:off x="1508760" y="3785616"/>
            <a:ext cx="3931920" cy="649224"/>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Underwriting-as-a-service</a:t>
            </a:r>
            <a:endParaRPr lang="en-US" sz="1450" dirty="0"/>
          </a:p>
        </p:txBody>
      </p:sp>
      <p:sp>
        <p:nvSpPr>
          <p:cNvPr id="17" name="Text 15"/>
          <p:cNvSpPr/>
          <p:nvPr/>
        </p:nvSpPr>
        <p:spPr>
          <a:xfrm>
            <a:off x="5577840" y="3767328"/>
            <a:ext cx="4160520" cy="68580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Developers who hold Gold-tier scores for 90 days earn a "SURETY Certified" badge: higher default limits, reduced checkout friction, and a recurring revenue stream for Amex.</a:t>
            </a:r>
            <a:endParaRPr lang="en-US" sz="1200" dirty="0"/>
          </a:p>
        </p:txBody>
      </p:sp>
      <p:sp>
        <p:nvSpPr>
          <p:cNvPr id="18" name="Text 16"/>
          <p:cNvSpPr/>
          <p:nvPr/>
        </p:nvSpPr>
        <p:spPr>
          <a:xfrm>
            <a:off x="9875520" y="3767328"/>
            <a:ext cx="1444752" cy="685800"/>
          </a:xfrm>
          <a:prstGeom prst="rect">
            <a:avLst/>
          </a:prstGeom>
          <a:noFill/>
          <a:ln/>
        </p:spPr>
        <p:txBody>
          <a:bodyPr wrap="square" lIns="0" tIns="0" rIns="0" bIns="0" rtlCol="0" anchor="ctr"/>
          <a:lstStyle/>
          <a:p>
            <a:pPr algn="r" indent="0" marL="0">
              <a:lnSpc>
                <a:spcPts val="1500"/>
              </a:lnSpc>
              <a:buNone/>
            </a:pPr>
            <a:r>
              <a:rPr lang="en-US" sz="1150" b="1" dirty="0">
                <a:solidFill>
                  <a:srgbClr val="C8A951"/>
                </a:solidFill>
                <a:latin typeface="Calibri" pitchFamily="34" charset="0"/>
                <a:ea typeface="Calibri" pitchFamily="34" charset="-122"/>
                <a:cs typeface="Calibri" pitchFamily="34" charset="-120"/>
              </a:rPr>
              <a:t>Compliance becomes competitive advantage</a:t>
            </a:r>
            <a:endParaRPr lang="en-US" sz="1150" dirty="0"/>
          </a:p>
        </p:txBody>
      </p:sp>
      <p:sp>
        <p:nvSpPr>
          <p:cNvPr id="19" name="Shape 17"/>
          <p:cNvSpPr/>
          <p:nvPr/>
        </p:nvSpPr>
        <p:spPr>
          <a:xfrm>
            <a:off x="640080" y="4645152"/>
            <a:ext cx="10908792" cy="822960"/>
          </a:xfrm>
          <a:prstGeom prst="roundRect">
            <a:avLst>
              <a:gd name="adj" fmla="val 5556"/>
            </a:avLst>
          </a:prstGeom>
          <a:solidFill>
            <a:srgbClr val="0F2A4A"/>
          </a:solidFill>
          <a:ln w="9525">
            <a:solidFill>
              <a:srgbClr val="1E4470"/>
            </a:solidFill>
            <a:prstDash val="solid"/>
          </a:ln>
        </p:spPr>
      </p:sp>
      <p:sp>
        <p:nvSpPr>
          <p:cNvPr id="20" name="Text 18"/>
          <p:cNvSpPr/>
          <p:nvPr/>
        </p:nvSpPr>
        <p:spPr>
          <a:xfrm>
            <a:off x="932688" y="4882896"/>
            <a:ext cx="457200" cy="365760"/>
          </a:xfrm>
          <a:prstGeom prst="rect">
            <a:avLst/>
          </a:prstGeom>
          <a:noFill/>
          <a:ln/>
        </p:spPr>
        <p:txBody>
          <a:bodyPr wrap="square" lIns="0" tIns="0" rIns="0" bIns="0" rtlCol="0" anchor="ctr"/>
          <a:lstStyle/>
          <a:p>
            <a:pPr indent="0" marL="0">
              <a:buNone/>
            </a:pPr>
            <a:r>
              <a:rPr lang="en-US" sz="1700" b="1" dirty="0">
                <a:solidFill>
                  <a:srgbClr val="7E97B5"/>
                </a:solidFill>
                <a:latin typeface="Cambria" pitchFamily="34" charset="0"/>
                <a:ea typeface="Cambria" pitchFamily="34" charset="-122"/>
                <a:cs typeface="Cambria" pitchFamily="34" charset="-120"/>
              </a:rPr>
              <a:t>04</a:t>
            </a:r>
            <a:endParaRPr lang="en-US" sz="1700" dirty="0"/>
          </a:p>
        </p:txBody>
      </p:sp>
      <p:sp>
        <p:nvSpPr>
          <p:cNvPr id="21" name="Text 19"/>
          <p:cNvSpPr/>
          <p:nvPr/>
        </p:nvSpPr>
        <p:spPr>
          <a:xfrm>
            <a:off x="1508760" y="4754880"/>
            <a:ext cx="3931920" cy="649224"/>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Extends the Amex trust franchise</a:t>
            </a:r>
            <a:endParaRPr lang="en-US" sz="1450" dirty="0"/>
          </a:p>
        </p:txBody>
      </p:sp>
      <p:sp>
        <p:nvSpPr>
          <p:cNvPr id="22" name="Text 20"/>
          <p:cNvSpPr/>
          <p:nvPr/>
        </p:nvSpPr>
        <p:spPr>
          <a:xfrm>
            <a:off x="5577840" y="4736592"/>
            <a:ext cx="4160520" cy="685800"/>
          </a:xfrm>
          <a:prstGeom prst="rect">
            <a:avLst/>
          </a:prstGeom>
          <a:noFill/>
          <a:ln/>
        </p:spPr>
        <p:txBody>
          <a:bodyPr wrap="square" lIns="0" tIns="0" rIns="0" bIns="0" rtlCol="0" anchor="ctr"/>
          <a:lstStyle/>
          <a:p>
            <a:pPr indent="0" marL="0">
              <a:lnSpc>
                <a:spcPts val="1600"/>
              </a:lnSpc>
              <a:buNone/>
            </a:pPr>
            <a:r>
              <a:rPr lang="en-US" sz="1200" dirty="0">
                <a:solidFill>
                  <a:srgbClr val="BFD0E4"/>
                </a:solidFill>
                <a:latin typeface="Calibri" pitchFamily="34" charset="0"/>
                <a:ea typeface="Calibri" pitchFamily="34" charset="-122"/>
                <a:cs typeface="Calibri" pitchFamily="34" charset="-120"/>
              </a:rPr>
              <a:t>The brand that made card payments safe becomes the brand that makes autonomous payments safe.</a:t>
            </a:r>
            <a:endParaRPr lang="en-US" sz="1200" dirty="0"/>
          </a:p>
        </p:txBody>
      </p:sp>
      <p:sp>
        <p:nvSpPr>
          <p:cNvPr id="23" name="Text 21"/>
          <p:cNvSpPr/>
          <p:nvPr/>
        </p:nvSpPr>
        <p:spPr>
          <a:xfrm>
            <a:off x="9875520" y="4736592"/>
            <a:ext cx="1444752" cy="685800"/>
          </a:xfrm>
          <a:prstGeom prst="rect">
            <a:avLst/>
          </a:prstGeom>
          <a:noFill/>
          <a:ln/>
        </p:spPr>
        <p:txBody>
          <a:bodyPr wrap="square" lIns="0" tIns="0" rIns="0" bIns="0" rtlCol="0" anchor="ctr"/>
          <a:lstStyle/>
          <a:p>
            <a:pPr algn="r" indent="0" marL="0">
              <a:lnSpc>
                <a:spcPts val="1500"/>
              </a:lnSpc>
              <a:buNone/>
            </a:pPr>
            <a:r>
              <a:rPr lang="en-US" sz="1150" b="1" dirty="0">
                <a:solidFill>
                  <a:srgbClr val="C8A951"/>
                </a:solidFill>
                <a:latin typeface="Calibri" pitchFamily="34" charset="0"/>
                <a:ea typeface="Calibri" pitchFamily="34" charset="-122"/>
                <a:cs typeface="Calibri" pitchFamily="34" charset="-120"/>
              </a:rPr>
              <a:t>Brand-consistent differentiation</a:t>
            </a:r>
            <a:endParaRPr lang="en-US" sz="1150" dirty="0"/>
          </a:p>
        </p:txBody>
      </p:sp>
      <p:sp>
        <p:nvSpPr>
          <p:cNvPr id="24" name="Text 22"/>
          <p:cNvSpPr/>
          <p:nvPr/>
        </p:nvSpPr>
        <p:spPr>
          <a:xfrm>
            <a:off x="640080" y="5614416"/>
            <a:ext cx="10908792" cy="329184"/>
          </a:xfrm>
          <a:prstGeom prst="rect">
            <a:avLst/>
          </a:prstGeom>
          <a:noFill/>
          <a:ln/>
        </p:spPr>
        <p:txBody>
          <a:bodyPr wrap="square" lIns="0" tIns="0" rIns="0" bIns="0" rtlCol="0" anchor="ctr"/>
          <a:lstStyle/>
          <a:p>
            <a:pPr indent="0" marL="0">
              <a:buNone/>
            </a:pPr>
            <a:r>
              <a:rPr lang="en-US" sz="1700" b="1" i="1" dirty="0">
                <a:solidFill>
                  <a:srgbClr val="C8A951"/>
                </a:solidFill>
                <a:latin typeface="Cambria" pitchFamily="34" charset="0"/>
                <a:ea typeface="Cambria" pitchFamily="34" charset="-122"/>
                <a:cs typeface="Cambria" pitchFamily="34" charset="-120"/>
              </a:rPr>
              <a:t>Governance stops being a cost of doing agentic commerce. It becomes the product Amex sells.</a:t>
            </a:r>
            <a:endParaRPr lang="en-US" sz="1700" dirty="0"/>
          </a:p>
        </p:txBody>
      </p:sp>
      <p:sp>
        <p:nvSpPr>
          <p:cNvPr id="25" name="Shape 23"/>
          <p:cNvSpPr/>
          <p:nvPr/>
        </p:nvSpPr>
        <p:spPr>
          <a:xfrm>
            <a:off x="640080" y="5998464"/>
            <a:ext cx="10908792" cy="0"/>
          </a:xfrm>
          <a:prstGeom prst="line">
            <a:avLst/>
          </a:prstGeom>
          <a:noFill/>
          <a:ln w="9525">
            <a:solidFill>
              <a:srgbClr val="1E4470"/>
            </a:solidFill>
            <a:prstDash val="solid"/>
          </a:ln>
        </p:spPr>
      </p:sp>
      <p:sp>
        <p:nvSpPr>
          <p:cNvPr id="26" name="Text 24"/>
          <p:cNvSpPr/>
          <p:nvPr/>
        </p:nvSpPr>
        <p:spPr>
          <a:xfrm>
            <a:off x="640080" y="6053328"/>
            <a:ext cx="10908792" cy="256032"/>
          </a:xfrm>
          <a:prstGeom prst="rect">
            <a:avLst/>
          </a:prstGeom>
          <a:noFill/>
          <a:ln/>
        </p:spPr>
        <p:txBody>
          <a:bodyPr wrap="square" lIns="0" tIns="0" rIns="0" bIns="0" rtlCol="0" anchor="ctr"/>
          <a:lstStyle/>
          <a:p>
            <a:pPr indent="0" marL="0">
              <a:buNone/>
            </a:pPr>
            <a:r>
              <a:rPr lang="en-US" sz="1050" b="1" dirty="0">
                <a:solidFill>
                  <a:srgbClr val="C8A951"/>
                </a:solidFill>
                <a:latin typeface="Calibri" pitchFamily="34" charset="0"/>
                <a:ea typeface="Calibri" pitchFamily="34" charset="-122"/>
                <a:cs typeface="Calibri" pitchFamily="34" charset="-120"/>
              </a:rPr>
              <a:t>Why only Amex?   </a:t>
            </a:r>
            <a:pPr indent="0" marL="0">
              <a:buNone/>
            </a:pPr>
            <a:r>
              <a:rPr lang="en-US" sz="1050" dirty="0">
                <a:solidFill>
                  <a:srgbClr val="BFD0E4"/>
                </a:solidFill>
                <a:latin typeface="Calibri" pitchFamily="34" charset="0"/>
                <a:ea typeface="Calibri" pitchFamily="34" charset="-122"/>
                <a:cs typeface="Calibri" pitchFamily="34" charset="-120"/>
              </a:rPr>
              <a:t>Closed-loop network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richer intent signals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better underwriting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faster claims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more trusted agents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more spend </a:t>
            </a:r>
            <a:pPr indent="0" marL="0">
              <a:buNone/>
            </a:pPr>
            <a:r>
              <a:rPr lang="en-US" sz="1050" dirty="0">
                <a:solidFill>
                  <a:srgbClr val="C8A951"/>
                </a:solidFill>
                <a:latin typeface="Calibri" pitchFamily="34" charset="0"/>
                <a:ea typeface="Calibri" pitchFamily="34" charset="-122"/>
                <a:cs typeface="Calibri" pitchFamily="34" charset="-120"/>
              </a:rPr>
              <a:t>→ </a:t>
            </a:r>
            <a:pPr indent="0" marL="0">
              <a:buNone/>
            </a:pPr>
            <a:r>
              <a:rPr lang="en-US" sz="1050" dirty="0">
                <a:solidFill>
                  <a:srgbClr val="BFD0E4"/>
                </a:solidFill>
                <a:latin typeface="Calibri" pitchFamily="34" charset="0"/>
                <a:ea typeface="Calibri" pitchFamily="34" charset="-122"/>
                <a:cs typeface="Calibri" pitchFamily="34" charset="-120"/>
              </a:rPr>
              <a:t>more Amex revenue.</a:t>
            </a:r>
            <a:endParaRPr lang="en-US" sz="1050" dirty="0"/>
          </a:p>
        </p:txBody>
      </p:sp>
      <p:sp>
        <p:nvSpPr>
          <p:cNvPr id="27" name="Text 25"/>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28" name="Text 26"/>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08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TESTING AND MEASUREMENT</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Measured, Not Claimed</a:t>
            </a:r>
            <a:endParaRPr lang="en-US" sz="3400" dirty="0"/>
          </a:p>
        </p:txBody>
      </p:sp>
      <p:pic>
        <p:nvPicPr>
          <p:cNvPr id="4" name="Image 0" descr="/sessions/dreamy-epic-faraday/mnt/outputs/img_dash.png">    </p:cNvPr>
          <p:cNvPicPr>
            <a:picLocks noChangeAspect="1"/>
          </p:cNvPicPr>
          <p:nvPr/>
        </p:nvPicPr>
        <p:blipFill>
          <a:blip r:embed="rId1"/>
          <a:stretch>
            <a:fillRect/>
          </a:stretch>
        </p:blipFill>
        <p:spPr>
          <a:xfrm>
            <a:off x="640080" y="1481328"/>
            <a:ext cx="7863840" cy="4423410"/>
          </a:xfrm>
          <a:prstGeom prst="rect">
            <a:avLst/>
          </a:prstGeom>
        </p:spPr>
      </p:pic>
      <p:sp>
        <p:nvSpPr>
          <p:cNvPr id="5" name="Shape 2"/>
          <p:cNvSpPr/>
          <p:nvPr/>
        </p:nvSpPr>
        <p:spPr>
          <a:xfrm>
            <a:off x="640080" y="1481328"/>
            <a:ext cx="7863840" cy="4423410"/>
          </a:xfrm>
          <a:prstGeom prst="rect">
            <a:avLst/>
          </a:prstGeom>
          <a:solidFill>
            <a:srgbClr val="0B1F3A">
              <a:alpha val="0"/>
            </a:srgbClr>
          </a:solidFill>
          <a:ln w="12700">
            <a:solidFill>
              <a:srgbClr val="C8A951"/>
            </a:solidFill>
            <a:prstDash val="solid"/>
          </a:ln>
        </p:spPr>
      </p:sp>
      <p:sp>
        <p:nvSpPr>
          <p:cNvPr id="6" name="Shape 3"/>
          <p:cNvSpPr/>
          <p:nvPr/>
        </p:nvSpPr>
        <p:spPr>
          <a:xfrm>
            <a:off x="8887968" y="1481328"/>
            <a:ext cx="2660904" cy="1060704"/>
          </a:xfrm>
          <a:prstGeom prst="roundRect">
            <a:avLst>
              <a:gd name="adj" fmla="val 4310"/>
            </a:avLst>
          </a:prstGeom>
          <a:solidFill>
            <a:srgbClr val="0F2A4A"/>
          </a:solidFill>
          <a:ln w="9525">
            <a:solidFill>
              <a:srgbClr val="1E4470"/>
            </a:solidFill>
            <a:prstDash val="solid"/>
          </a:ln>
        </p:spPr>
      </p:sp>
      <p:sp>
        <p:nvSpPr>
          <p:cNvPr id="7" name="Text 4"/>
          <p:cNvSpPr/>
          <p:nvPr/>
        </p:nvSpPr>
        <p:spPr>
          <a:xfrm>
            <a:off x="9107424" y="1609344"/>
            <a:ext cx="2221992" cy="219456"/>
          </a:xfrm>
          <a:prstGeom prst="rect">
            <a:avLst/>
          </a:prstGeom>
          <a:noFill/>
          <a:ln/>
        </p:spPr>
        <p:txBody>
          <a:bodyPr wrap="square" lIns="0" tIns="0" rIns="0" bIns="0" rtlCol="0" anchor="ctr"/>
          <a:lstStyle/>
          <a:p>
            <a:pPr indent="0" marL="0">
              <a:buNone/>
            </a:pPr>
            <a:r>
              <a:rPr lang="en-US" sz="950" b="1" spc="160" kern="0" dirty="0">
                <a:solidFill>
                  <a:srgbClr val="7E97B5"/>
                </a:solidFill>
                <a:latin typeface="Calibri" pitchFamily="34" charset="0"/>
                <a:ea typeface="Calibri" pitchFamily="34" charset="-122"/>
                <a:cs typeface="Calibri" pitchFamily="34" charset="-120"/>
              </a:rPr>
              <a:t>ROGUE DETECTION</a:t>
            </a:r>
            <a:endParaRPr lang="en-US" sz="950" dirty="0"/>
          </a:p>
        </p:txBody>
      </p:sp>
      <p:sp>
        <p:nvSpPr>
          <p:cNvPr id="8" name="Text 5"/>
          <p:cNvSpPr/>
          <p:nvPr/>
        </p:nvSpPr>
        <p:spPr>
          <a:xfrm>
            <a:off x="9107424" y="1828800"/>
            <a:ext cx="222199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Precision and recall</a:t>
            </a:r>
            <a:endParaRPr lang="en-US" sz="1400" dirty="0"/>
          </a:p>
        </p:txBody>
      </p:sp>
      <p:sp>
        <p:nvSpPr>
          <p:cNvPr id="9" name="Text 6"/>
          <p:cNvSpPr/>
          <p:nvPr/>
        </p:nvSpPr>
        <p:spPr>
          <a:xfrm>
            <a:off x="9107424" y="2139696"/>
            <a:ext cx="2221992" cy="347472"/>
          </a:xfrm>
          <a:prstGeom prst="rect">
            <a:avLst/>
          </a:prstGeom>
          <a:noFill/>
          <a:ln/>
        </p:spPr>
        <p:txBody>
          <a:bodyPr wrap="square" lIns="0" tIns="0" rIns="0" bIns="0" rtlCol="0" anchor="ctr"/>
          <a:lstStyle/>
          <a:p>
            <a:pPr indent="0" marL="0">
              <a:lnSpc>
                <a:spcPts val="1400"/>
              </a:lnSpc>
              <a:buNone/>
            </a:pPr>
            <a:r>
              <a:rPr lang="en-US" sz="1100" dirty="0">
                <a:solidFill>
                  <a:srgbClr val="BFD0E4"/>
                </a:solidFill>
                <a:latin typeface="Calibri" pitchFamily="34" charset="0"/>
                <a:ea typeface="Calibri" pitchFamily="34" charset="-122"/>
                <a:cs typeface="Calibri" pitchFamily="34" charset="-120"/>
              </a:rPr>
              <a:t>50-agent fleet with planted rogue behaviour.</a:t>
            </a:r>
            <a:endParaRPr lang="en-US" sz="1100" dirty="0"/>
          </a:p>
        </p:txBody>
      </p:sp>
      <p:sp>
        <p:nvSpPr>
          <p:cNvPr id="10" name="Shape 7"/>
          <p:cNvSpPr/>
          <p:nvPr/>
        </p:nvSpPr>
        <p:spPr>
          <a:xfrm>
            <a:off x="8887968" y="2651760"/>
            <a:ext cx="2660904" cy="1060704"/>
          </a:xfrm>
          <a:prstGeom prst="roundRect">
            <a:avLst>
              <a:gd name="adj" fmla="val 4310"/>
            </a:avLst>
          </a:prstGeom>
          <a:solidFill>
            <a:srgbClr val="0F2A4A"/>
          </a:solidFill>
          <a:ln w="9525">
            <a:solidFill>
              <a:srgbClr val="1E4470"/>
            </a:solidFill>
            <a:prstDash val="solid"/>
          </a:ln>
        </p:spPr>
      </p:sp>
      <p:sp>
        <p:nvSpPr>
          <p:cNvPr id="11" name="Text 8"/>
          <p:cNvSpPr/>
          <p:nvPr/>
        </p:nvSpPr>
        <p:spPr>
          <a:xfrm>
            <a:off x="9107424" y="2779776"/>
            <a:ext cx="2221992" cy="219456"/>
          </a:xfrm>
          <a:prstGeom prst="rect">
            <a:avLst/>
          </a:prstGeom>
          <a:noFill/>
          <a:ln/>
        </p:spPr>
        <p:txBody>
          <a:bodyPr wrap="square" lIns="0" tIns="0" rIns="0" bIns="0" rtlCol="0" anchor="ctr"/>
          <a:lstStyle/>
          <a:p>
            <a:pPr indent="0" marL="0">
              <a:buNone/>
            </a:pPr>
            <a:r>
              <a:rPr lang="en-US" sz="950" b="1" spc="160" kern="0" dirty="0">
                <a:solidFill>
                  <a:srgbClr val="7E97B5"/>
                </a:solidFill>
                <a:latin typeface="Calibri" pitchFamily="34" charset="0"/>
                <a:ea typeface="Calibri" pitchFamily="34" charset="-122"/>
                <a:cs typeface="Calibri" pitchFamily="34" charset="-120"/>
              </a:rPr>
              <a:t>POLICY LATENCY</a:t>
            </a:r>
            <a:endParaRPr lang="en-US" sz="950" dirty="0"/>
          </a:p>
        </p:txBody>
      </p:sp>
      <p:sp>
        <p:nvSpPr>
          <p:cNvPr id="12" name="Text 9"/>
          <p:cNvSpPr/>
          <p:nvPr/>
        </p:nvSpPr>
        <p:spPr>
          <a:xfrm>
            <a:off x="9107424" y="2999232"/>
            <a:ext cx="222199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Target: p99 under 10 ms</a:t>
            </a:r>
            <a:endParaRPr lang="en-US" sz="1400" dirty="0"/>
          </a:p>
        </p:txBody>
      </p:sp>
      <p:sp>
        <p:nvSpPr>
          <p:cNvPr id="13" name="Text 10"/>
          <p:cNvSpPr/>
          <p:nvPr/>
        </p:nvSpPr>
        <p:spPr>
          <a:xfrm>
            <a:off x="9107424" y="3310128"/>
            <a:ext cx="2221992" cy="347472"/>
          </a:xfrm>
          <a:prstGeom prst="rect">
            <a:avLst/>
          </a:prstGeom>
          <a:noFill/>
          <a:ln/>
        </p:spPr>
        <p:txBody>
          <a:bodyPr wrap="square" lIns="0" tIns="0" rIns="0" bIns="0" rtlCol="0" anchor="ctr"/>
          <a:lstStyle/>
          <a:p>
            <a:pPr indent="0" marL="0">
              <a:lnSpc>
                <a:spcPts val="1400"/>
              </a:lnSpc>
              <a:buNone/>
            </a:pPr>
            <a:r>
              <a:rPr lang="en-US" sz="1100" dirty="0">
                <a:solidFill>
                  <a:srgbClr val="BFD0E4"/>
                </a:solidFill>
                <a:latin typeface="Calibri" pitchFamily="34" charset="0"/>
                <a:ea typeface="Calibri" pitchFamily="34" charset="-122"/>
                <a:cs typeface="Calibri" pitchFamily="34" charset="-120"/>
              </a:rPr>
              <a:t>Load test against the enforcement path.</a:t>
            </a:r>
            <a:endParaRPr lang="en-US" sz="1100" dirty="0"/>
          </a:p>
        </p:txBody>
      </p:sp>
      <p:sp>
        <p:nvSpPr>
          <p:cNvPr id="14" name="Shape 11"/>
          <p:cNvSpPr/>
          <p:nvPr/>
        </p:nvSpPr>
        <p:spPr>
          <a:xfrm>
            <a:off x="8887968" y="3822192"/>
            <a:ext cx="2660904" cy="1060704"/>
          </a:xfrm>
          <a:prstGeom prst="roundRect">
            <a:avLst>
              <a:gd name="adj" fmla="val 4310"/>
            </a:avLst>
          </a:prstGeom>
          <a:solidFill>
            <a:srgbClr val="0F2A4A"/>
          </a:solidFill>
          <a:ln w="9525">
            <a:solidFill>
              <a:srgbClr val="1E4470"/>
            </a:solidFill>
            <a:prstDash val="solid"/>
          </a:ln>
        </p:spPr>
      </p:sp>
      <p:sp>
        <p:nvSpPr>
          <p:cNvPr id="15" name="Text 12"/>
          <p:cNvSpPr/>
          <p:nvPr/>
        </p:nvSpPr>
        <p:spPr>
          <a:xfrm>
            <a:off x="9107424" y="3950208"/>
            <a:ext cx="2221992" cy="219456"/>
          </a:xfrm>
          <a:prstGeom prst="rect">
            <a:avLst/>
          </a:prstGeom>
          <a:noFill/>
          <a:ln/>
        </p:spPr>
        <p:txBody>
          <a:bodyPr wrap="square" lIns="0" tIns="0" rIns="0" bIns="0" rtlCol="0" anchor="ctr"/>
          <a:lstStyle/>
          <a:p>
            <a:pPr indent="0" marL="0">
              <a:buNone/>
            </a:pPr>
            <a:r>
              <a:rPr lang="en-US" sz="950" b="1" spc="160" kern="0" dirty="0">
                <a:solidFill>
                  <a:srgbClr val="7E97B5"/>
                </a:solidFill>
                <a:latin typeface="Calibri" pitchFamily="34" charset="0"/>
                <a:ea typeface="Calibri" pitchFamily="34" charset="-122"/>
                <a:cs typeface="Calibri" pitchFamily="34" charset="-120"/>
              </a:rPr>
              <a:t>BREAKER PROPAGATION</a:t>
            </a:r>
            <a:endParaRPr lang="en-US" sz="950" dirty="0"/>
          </a:p>
        </p:txBody>
      </p:sp>
      <p:sp>
        <p:nvSpPr>
          <p:cNvPr id="16" name="Text 13"/>
          <p:cNvSpPr/>
          <p:nvPr/>
        </p:nvSpPr>
        <p:spPr>
          <a:xfrm>
            <a:off x="9107424" y="4169664"/>
            <a:ext cx="2221992"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In-flight declines, no leakage</a:t>
            </a:r>
            <a:endParaRPr lang="en-US" sz="1400" dirty="0"/>
          </a:p>
        </p:txBody>
      </p:sp>
      <p:sp>
        <p:nvSpPr>
          <p:cNvPr id="17" name="Text 14"/>
          <p:cNvSpPr/>
          <p:nvPr/>
        </p:nvSpPr>
        <p:spPr>
          <a:xfrm>
            <a:off x="9107424" y="4480560"/>
            <a:ext cx="2221992" cy="347472"/>
          </a:xfrm>
          <a:prstGeom prst="rect">
            <a:avLst/>
          </a:prstGeom>
          <a:noFill/>
          <a:ln/>
        </p:spPr>
        <p:txBody>
          <a:bodyPr wrap="square" lIns="0" tIns="0" rIns="0" bIns="0" rtlCol="0" anchor="ctr"/>
          <a:lstStyle/>
          <a:p>
            <a:pPr indent="0" marL="0">
              <a:lnSpc>
                <a:spcPts val="1400"/>
              </a:lnSpc>
              <a:buNone/>
            </a:pPr>
            <a:r>
              <a:rPr lang="en-US" sz="1100" dirty="0">
                <a:solidFill>
                  <a:srgbClr val="BFD0E4"/>
                </a:solidFill>
                <a:latin typeface="Calibri" pitchFamily="34" charset="0"/>
                <a:ea typeface="Calibri" pitchFamily="34" charset="-122"/>
                <a:cs typeface="Calibri" pitchFamily="34" charset="-120"/>
              </a:rPr>
              <a:t>Fleet-wide revoke during live traffic.</a:t>
            </a:r>
            <a:endParaRPr lang="en-US" sz="1100" dirty="0"/>
          </a:p>
        </p:txBody>
      </p:sp>
      <p:sp>
        <p:nvSpPr>
          <p:cNvPr id="18" name="Shape 15"/>
          <p:cNvSpPr/>
          <p:nvPr/>
        </p:nvSpPr>
        <p:spPr>
          <a:xfrm>
            <a:off x="8887968" y="4992624"/>
            <a:ext cx="2660904" cy="1060704"/>
          </a:xfrm>
          <a:prstGeom prst="roundRect">
            <a:avLst>
              <a:gd name="adj" fmla="val 4310"/>
            </a:avLst>
          </a:prstGeom>
          <a:solidFill>
            <a:srgbClr val="081A31"/>
          </a:solidFill>
          <a:ln w="12700">
            <a:solidFill>
              <a:srgbClr val="C8A951"/>
            </a:solidFill>
            <a:prstDash val="solid"/>
          </a:ln>
        </p:spPr>
      </p:sp>
      <p:sp>
        <p:nvSpPr>
          <p:cNvPr id="19" name="Text 16"/>
          <p:cNvSpPr/>
          <p:nvPr/>
        </p:nvSpPr>
        <p:spPr>
          <a:xfrm>
            <a:off x="9107424" y="5120640"/>
            <a:ext cx="2221992" cy="219456"/>
          </a:xfrm>
          <a:prstGeom prst="rect">
            <a:avLst/>
          </a:prstGeom>
          <a:noFill/>
          <a:ln/>
        </p:spPr>
        <p:txBody>
          <a:bodyPr wrap="square" lIns="0" tIns="0" rIns="0" bIns="0" rtlCol="0" anchor="ctr"/>
          <a:lstStyle/>
          <a:p>
            <a:pPr indent="0" marL="0">
              <a:buNone/>
            </a:pPr>
            <a:r>
              <a:rPr lang="en-US" sz="950" b="1" spc="160" kern="0" dirty="0">
                <a:solidFill>
                  <a:srgbClr val="C8A951"/>
                </a:solidFill>
                <a:latin typeface="Calibri" pitchFamily="34" charset="0"/>
                <a:ea typeface="Calibri" pitchFamily="34" charset="-122"/>
                <a:cs typeface="Calibri" pitchFamily="34" charset="-120"/>
              </a:rPr>
              <a:t>AUDIT INTEGRITY</a:t>
            </a:r>
            <a:endParaRPr lang="en-US" sz="950" dirty="0"/>
          </a:p>
        </p:txBody>
      </p:sp>
      <p:sp>
        <p:nvSpPr>
          <p:cNvPr id="20" name="Text 17"/>
          <p:cNvSpPr/>
          <p:nvPr/>
        </p:nvSpPr>
        <p:spPr>
          <a:xfrm>
            <a:off x="9107424" y="5340096"/>
            <a:ext cx="2221992" cy="310896"/>
          </a:xfrm>
          <a:prstGeom prst="rect">
            <a:avLst/>
          </a:prstGeom>
          <a:noFill/>
          <a:ln/>
        </p:spPr>
        <p:txBody>
          <a:bodyPr wrap="square" lIns="0" tIns="0" rIns="0" bIns="0" rtlCol="0" anchor="ctr"/>
          <a:lstStyle/>
          <a:p>
            <a:pPr indent="0" marL="0">
              <a:buNone/>
            </a:pPr>
            <a:r>
              <a:rPr lang="en-US" sz="1400" b="1" dirty="0">
                <a:solidFill>
                  <a:srgbClr val="C8A951"/>
                </a:solidFill>
                <a:latin typeface="Calibri" pitchFamily="34" charset="0"/>
                <a:ea typeface="Calibri" pitchFamily="34" charset="-122"/>
                <a:cs typeface="Calibri" pitchFamily="34" charset="-120"/>
              </a:rPr>
              <a:t>Chain break on screen</a:t>
            </a:r>
            <a:endParaRPr lang="en-US" sz="1400" dirty="0"/>
          </a:p>
        </p:txBody>
      </p:sp>
      <p:sp>
        <p:nvSpPr>
          <p:cNvPr id="21" name="Text 18"/>
          <p:cNvSpPr/>
          <p:nvPr/>
        </p:nvSpPr>
        <p:spPr>
          <a:xfrm>
            <a:off x="9107424" y="5650992"/>
            <a:ext cx="2221992" cy="347472"/>
          </a:xfrm>
          <a:prstGeom prst="rect">
            <a:avLst/>
          </a:prstGeom>
          <a:noFill/>
          <a:ln/>
        </p:spPr>
        <p:txBody>
          <a:bodyPr wrap="square" lIns="0" tIns="0" rIns="0" bIns="0" rtlCol="0" anchor="ctr"/>
          <a:lstStyle/>
          <a:p>
            <a:pPr indent="0" marL="0">
              <a:lnSpc>
                <a:spcPts val="1400"/>
              </a:lnSpc>
              <a:buNone/>
            </a:pPr>
            <a:r>
              <a:rPr lang="en-US" sz="1100" dirty="0">
                <a:solidFill>
                  <a:srgbClr val="BFD0E4"/>
                </a:solidFill>
                <a:latin typeface="Calibri" pitchFamily="34" charset="0"/>
                <a:ea typeface="Calibri" pitchFamily="34" charset="-122"/>
                <a:cs typeface="Calibri" pitchFamily="34" charset="-120"/>
              </a:rPr>
              <a:t>A record edited on stage during the demo.</a:t>
            </a:r>
            <a:endParaRPr lang="en-US" sz="1100" dirty="0"/>
          </a:p>
        </p:txBody>
      </p:sp>
      <p:sp>
        <p:nvSpPr>
          <p:cNvPr id="22" name="Text 19"/>
          <p:cNvSpPr/>
          <p:nvPr/>
        </p:nvSpPr>
        <p:spPr>
          <a:xfrm>
            <a:off x="640080" y="5998464"/>
            <a:ext cx="7863840" cy="347472"/>
          </a:xfrm>
          <a:prstGeom prst="rect">
            <a:avLst/>
          </a:prstGeom>
          <a:noFill/>
          <a:ln/>
        </p:spPr>
        <p:txBody>
          <a:bodyPr wrap="square" lIns="0" tIns="0" rIns="0" bIns="0" rtlCol="0" anchor="ctr"/>
          <a:lstStyle/>
          <a:p>
            <a:pPr indent="0" marL="0">
              <a:buNone/>
            </a:pPr>
            <a:r>
              <a:rPr lang="en-US" sz="1600" b="1" i="1" dirty="0">
                <a:solidFill>
                  <a:srgbClr val="C8A951"/>
                </a:solidFill>
                <a:latin typeface="Cambria" pitchFamily="34" charset="0"/>
                <a:ea typeface="Cambria" pitchFamily="34" charset="-122"/>
                <a:cs typeface="Cambria" pitchFamily="34" charset="-120"/>
              </a:rPr>
              <a:t>We will not claim performance. We will measure it in front of you.</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75488"/>
            <a:ext cx="8778240" cy="256032"/>
          </a:xfrm>
          <a:prstGeom prst="rect">
            <a:avLst/>
          </a:prstGeom>
          <a:noFill/>
          <a:ln/>
        </p:spPr>
        <p:txBody>
          <a:bodyPr wrap="square" lIns="0" tIns="0" rIns="0" bIns="0" rtlCol="0" anchor="ctr"/>
          <a:lstStyle/>
          <a:p>
            <a:pPr indent="0" marL="0">
              <a:buNone/>
            </a:pPr>
            <a:r>
              <a:rPr lang="en-US" sz="1100" b="1" spc="260" kern="0" dirty="0">
                <a:solidFill>
                  <a:srgbClr val="C8A951"/>
                </a:solidFill>
                <a:latin typeface="Calibri" pitchFamily="34" charset="0"/>
                <a:ea typeface="Calibri" pitchFamily="34" charset="-122"/>
                <a:cs typeface="Calibri" pitchFamily="34" charset="-120"/>
              </a:rPr>
              <a:t>APPENDIX A</a:t>
            </a:r>
            <a:endParaRPr lang="en-US" sz="1100" dirty="0"/>
          </a:p>
        </p:txBody>
      </p:sp>
      <p:sp>
        <p:nvSpPr>
          <p:cNvPr id="3" name="Text 1"/>
          <p:cNvSpPr/>
          <p:nvPr/>
        </p:nvSpPr>
        <p:spPr>
          <a:xfrm>
            <a:off x="640080" y="758952"/>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SURETY-ACE Integration Architecture</a:t>
            </a:r>
            <a:endParaRPr lang="en-US" sz="3400" dirty="0"/>
          </a:p>
        </p:txBody>
      </p:sp>
      <p:sp>
        <p:nvSpPr>
          <p:cNvPr id="4" name="Shape 2"/>
          <p:cNvSpPr/>
          <p:nvPr/>
        </p:nvSpPr>
        <p:spPr>
          <a:xfrm>
            <a:off x="640080" y="1481328"/>
            <a:ext cx="10908792" cy="3931920"/>
          </a:xfrm>
          <a:prstGeom prst="roundRect">
            <a:avLst>
              <a:gd name="adj" fmla="val 930"/>
            </a:avLst>
          </a:prstGeom>
          <a:solidFill>
            <a:srgbClr val="081A31"/>
          </a:solidFill>
          <a:ln w="12700">
            <a:solidFill>
              <a:srgbClr val="C8A951"/>
            </a:solidFill>
            <a:prstDash val="solid"/>
          </a:ln>
        </p:spPr>
      </p:sp>
      <p:sp>
        <p:nvSpPr>
          <p:cNvPr id="5" name="Text 3"/>
          <p:cNvSpPr/>
          <p:nvPr/>
        </p:nvSpPr>
        <p:spPr>
          <a:xfrm>
            <a:off x="1143000" y="1627632"/>
            <a:ext cx="2377440" cy="219456"/>
          </a:xfrm>
          <a:prstGeom prst="rect">
            <a:avLst/>
          </a:prstGeom>
          <a:noFill/>
          <a:ln/>
        </p:spPr>
        <p:txBody>
          <a:bodyPr wrap="square" lIns="0" tIns="0" rIns="0" bIns="0" rtlCol="0" anchor="ctr"/>
          <a:lstStyle/>
          <a:p>
            <a:pPr algn="ctr" indent="0" marL="0">
              <a:buNone/>
            </a:pPr>
            <a:r>
              <a:rPr lang="en-US" sz="950" b="1" spc="160" kern="0" dirty="0">
                <a:solidFill>
                  <a:srgbClr val="C8A951"/>
                </a:solidFill>
                <a:latin typeface="Calibri" pitchFamily="34" charset="0"/>
                <a:ea typeface="Calibri" pitchFamily="34" charset="-122"/>
                <a:cs typeface="Calibri" pitchFamily="34" charset="-120"/>
              </a:rPr>
              <a:t>ACE DEVELOPER KIT</a:t>
            </a:r>
            <a:endParaRPr lang="en-US" sz="950" dirty="0"/>
          </a:p>
        </p:txBody>
      </p:sp>
      <p:sp>
        <p:nvSpPr>
          <p:cNvPr id="6" name="Shape 4"/>
          <p:cNvSpPr/>
          <p:nvPr/>
        </p:nvSpPr>
        <p:spPr>
          <a:xfrm>
            <a:off x="1143000" y="1883664"/>
            <a:ext cx="2377440" cy="731520"/>
          </a:xfrm>
          <a:prstGeom prst="roundRect">
            <a:avLst>
              <a:gd name="adj" fmla="val 5000"/>
            </a:avLst>
          </a:prstGeom>
          <a:solidFill>
            <a:srgbClr val="0F2A4A"/>
          </a:solidFill>
          <a:ln w="9525">
            <a:solidFill>
              <a:srgbClr val="1E4470"/>
            </a:solidFill>
            <a:prstDash val="solid"/>
          </a:ln>
        </p:spPr>
      </p:sp>
      <p:sp>
        <p:nvSpPr>
          <p:cNvPr id="7" name="Text 5"/>
          <p:cNvSpPr/>
          <p:nvPr/>
        </p:nvSpPr>
        <p:spPr>
          <a:xfrm>
            <a:off x="1289304" y="2011680"/>
            <a:ext cx="208483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Intent Intelligence</a:t>
            </a:r>
            <a:endParaRPr lang="en-US" sz="1300" dirty="0"/>
          </a:p>
        </p:txBody>
      </p:sp>
      <p:sp>
        <p:nvSpPr>
          <p:cNvPr id="8" name="Text 6"/>
          <p:cNvSpPr/>
          <p:nvPr/>
        </p:nvSpPr>
        <p:spPr>
          <a:xfrm>
            <a:off x="1289304" y="2286000"/>
            <a:ext cx="2084832" cy="201168"/>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authenticated Card Member intent</a:t>
            </a:r>
            <a:endParaRPr lang="en-US" sz="1000" dirty="0"/>
          </a:p>
        </p:txBody>
      </p:sp>
      <p:sp>
        <p:nvSpPr>
          <p:cNvPr id="9" name="Shape 7"/>
          <p:cNvSpPr/>
          <p:nvPr/>
        </p:nvSpPr>
        <p:spPr>
          <a:xfrm>
            <a:off x="1143000" y="2724912"/>
            <a:ext cx="2377440" cy="731520"/>
          </a:xfrm>
          <a:prstGeom prst="roundRect">
            <a:avLst>
              <a:gd name="adj" fmla="val 5000"/>
            </a:avLst>
          </a:prstGeom>
          <a:solidFill>
            <a:srgbClr val="0F2A4A"/>
          </a:solidFill>
          <a:ln w="9525">
            <a:solidFill>
              <a:srgbClr val="1E4470"/>
            </a:solidFill>
            <a:prstDash val="solid"/>
          </a:ln>
        </p:spPr>
      </p:sp>
      <p:sp>
        <p:nvSpPr>
          <p:cNvPr id="10" name="Text 8"/>
          <p:cNvSpPr/>
          <p:nvPr/>
        </p:nvSpPr>
        <p:spPr>
          <a:xfrm>
            <a:off x="1289304" y="2852928"/>
            <a:ext cx="208483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Cart Context</a:t>
            </a:r>
            <a:endParaRPr lang="en-US" sz="1300" dirty="0"/>
          </a:p>
        </p:txBody>
      </p:sp>
      <p:sp>
        <p:nvSpPr>
          <p:cNvPr id="11" name="Text 9"/>
          <p:cNvSpPr/>
          <p:nvPr/>
        </p:nvSpPr>
        <p:spPr>
          <a:xfrm>
            <a:off x="1289304" y="3127248"/>
            <a:ext cx="2084832" cy="201168"/>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merchant, category, basket</a:t>
            </a:r>
            <a:endParaRPr lang="en-US" sz="1000" dirty="0"/>
          </a:p>
        </p:txBody>
      </p:sp>
      <p:sp>
        <p:nvSpPr>
          <p:cNvPr id="12" name="Shape 10"/>
          <p:cNvSpPr/>
          <p:nvPr/>
        </p:nvSpPr>
        <p:spPr>
          <a:xfrm>
            <a:off x="1143000" y="3566160"/>
            <a:ext cx="2377440" cy="731520"/>
          </a:xfrm>
          <a:prstGeom prst="roundRect">
            <a:avLst>
              <a:gd name="adj" fmla="val 5000"/>
            </a:avLst>
          </a:prstGeom>
          <a:solidFill>
            <a:srgbClr val="0F2A4A"/>
          </a:solidFill>
          <a:ln w="9525">
            <a:solidFill>
              <a:srgbClr val="1E4470"/>
            </a:solidFill>
            <a:prstDash val="solid"/>
          </a:ln>
        </p:spPr>
      </p:sp>
      <p:sp>
        <p:nvSpPr>
          <p:cNvPr id="13" name="Text 11"/>
          <p:cNvSpPr/>
          <p:nvPr/>
        </p:nvSpPr>
        <p:spPr>
          <a:xfrm>
            <a:off x="1289304" y="3694176"/>
            <a:ext cx="208483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Agent Registration</a:t>
            </a:r>
            <a:endParaRPr lang="en-US" sz="1300" dirty="0"/>
          </a:p>
        </p:txBody>
      </p:sp>
      <p:sp>
        <p:nvSpPr>
          <p:cNvPr id="14" name="Text 12"/>
          <p:cNvSpPr/>
          <p:nvPr/>
        </p:nvSpPr>
        <p:spPr>
          <a:xfrm>
            <a:off x="1289304" y="3968496"/>
            <a:ext cx="2084832" cy="201168"/>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registered agent identity</a:t>
            </a:r>
            <a:endParaRPr lang="en-US" sz="1000" dirty="0"/>
          </a:p>
        </p:txBody>
      </p:sp>
      <p:sp>
        <p:nvSpPr>
          <p:cNvPr id="15" name="Shape 13"/>
          <p:cNvSpPr/>
          <p:nvPr/>
        </p:nvSpPr>
        <p:spPr>
          <a:xfrm>
            <a:off x="4663440" y="1828800"/>
            <a:ext cx="6126480" cy="2377440"/>
          </a:xfrm>
          <a:prstGeom prst="roundRect">
            <a:avLst>
              <a:gd name="adj" fmla="val 1923"/>
            </a:avLst>
          </a:prstGeom>
          <a:solidFill>
            <a:srgbClr val="0B1F3A"/>
          </a:solidFill>
          <a:ln w="19050">
            <a:solidFill>
              <a:srgbClr val="C8A951"/>
            </a:solidFill>
            <a:prstDash val="solid"/>
          </a:ln>
        </p:spPr>
      </p:sp>
      <p:sp>
        <p:nvSpPr>
          <p:cNvPr id="16" name="Text 14"/>
          <p:cNvSpPr/>
          <p:nvPr/>
        </p:nvSpPr>
        <p:spPr>
          <a:xfrm>
            <a:off x="4663440" y="1956816"/>
            <a:ext cx="6126480" cy="310896"/>
          </a:xfrm>
          <a:prstGeom prst="rect">
            <a:avLst/>
          </a:prstGeom>
          <a:noFill/>
          <a:ln/>
        </p:spPr>
        <p:txBody>
          <a:bodyPr wrap="square" lIns="0" tIns="0" rIns="0" bIns="0" rtlCol="0" anchor="ctr"/>
          <a:lstStyle/>
          <a:p>
            <a:pPr algn="ctr" indent="0" marL="0">
              <a:buNone/>
            </a:pPr>
            <a:r>
              <a:rPr lang="en-US" sz="1800" b="1" spc="500" kern="0" dirty="0">
                <a:solidFill>
                  <a:srgbClr val="FFFFFF"/>
                </a:solidFill>
                <a:latin typeface="Cambria" pitchFamily="34" charset="0"/>
                <a:ea typeface="Cambria" pitchFamily="34" charset="-122"/>
                <a:cs typeface="Cambria" pitchFamily="34" charset="-120"/>
              </a:rPr>
              <a:t>SURETY</a:t>
            </a:r>
            <a:endParaRPr lang="en-US" sz="1800" dirty="0"/>
          </a:p>
        </p:txBody>
      </p:sp>
      <p:sp>
        <p:nvSpPr>
          <p:cNvPr id="17" name="Shape 15"/>
          <p:cNvSpPr/>
          <p:nvPr/>
        </p:nvSpPr>
        <p:spPr>
          <a:xfrm>
            <a:off x="4846320" y="2395728"/>
            <a:ext cx="1737360" cy="1572768"/>
          </a:xfrm>
          <a:prstGeom prst="roundRect">
            <a:avLst>
              <a:gd name="adj" fmla="val 2326"/>
            </a:avLst>
          </a:prstGeom>
          <a:solidFill>
            <a:srgbClr val="0F2A4A"/>
          </a:solidFill>
          <a:ln w="12700">
            <a:solidFill>
              <a:srgbClr val="016FD0"/>
            </a:solidFill>
            <a:prstDash val="solid"/>
          </a:ln>
        </p:spPr>
      </p:sp>
      <p:sp>
        <p:nvSpPr>
          <p:cNvPr id="18" name="Text 16"/>
          <p:cNvSpPr/>
          <p:nvPr/>
        </p:nvSpPr>
        <p:spPr>
          <a:xfrm>
            <a:off x="4992624" y="2523744"/>
            <a:ext cx="1444752"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Risk Scoring</a:t>
            </a:r>
            <a:endParaRPr lang="en-US" sz="1200" dirty="0"/>
          </a:p>
        </p:txBody>
      </p:sp>
      <p:sp>
        <p:nvSpPr>
          <p:cNvPr id="19" name="Text 17"/>
          <p:cNvSpPr/>
          <p:nvPr/>
        </p:nvSpPr>
        <p:spPr>
          <a:xfrm>
            <a:off x="4992624" y="2798064"/>
            <a:ext cx="1444752" cy="1042416"/>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continuous agent score from ACE features</a:t>
            </a:r>
            <a:endParaRPr lang="en-US" sz="1000" dirty="0"/>
          </a:p>
        </p:txBody>
      </p:sp>
      <p:sp>
        <p:nvSpPr>
          <p:cNvPr id="20" name="Shape 18"/>
          <p:cNvSpPr/>
          <p:nvPr/>
        </p:nvSpPr>
        <p:spPr>
          <a:xfrm>
            <a:off x="6839712" y="2395728"/>
            <a:ext cx="1737360" cy="1572768"/>
          </a:xfrm>
          <a:prstGeom prst="roundRect">
            <a:avLst>
              <a:gd name="adj" fmla="val 2326"/>
            </a:avLst>
          </a:prstGeom>
          <a:solidFill>
            <a:srgbClr val="0F2A4A"/>
          </a:solidFill>
          <a:ln w="12700">
            <a:solidFill>
              <a:srgbClr val="016FD0"/>
            </a:solidFill>
            <a:prstDash val="solid"/>
          </a:ln>
        </p:spPr>
      </p:sp>
      <p:sp>
        <p:nvSpPr>
          <p:cNvPr id="21" name="Text 19"/>
          <p:cNvSpPr/>
          <p:nvPr/>
        </p:nvSpPr>
        <p:spPr>
          <a:xfrm>
            <a:off x="6986016" y="2523744"/>
            <a:ext cx="1444752"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Underwriting &amp; Enforcement</a:t>
            </a:r>
            <a:endParaRPr lang="en-US" sz="1200" dirty="0"/>
          </a:p>
        </p:txBody>
      </p:sp>
      <p:sp>
        <p:nvSpPr>
          <p:cNvPr id="22" name="Text 20"/>
          <p:cNvSpPr/>
          <p:nvPr/>
        </p:nvSpPr>
        <p:spPr>
          <a:xfrm>
            <a:off x="6986016" y="2798064"/>
            <a:ext cx="1444752" cy="1042416"/>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tiers, dynamic caps, circuit breakers</a:t>
            </a:r>
            <a:endParaRPr lang="en-US" sz="1000" dirty="0"/>
          </a:p>
        </p:txBody>
      </p:sp>
      <p:sp>
        <p:nvSpPr>
          <p:cNvPr id="23" name="Shape 21"/>
          <p:cNvSpPr/>
          <p:nvPr/>
        </p:nvSpPr>
        <p:spPr>
          <a:xfrm>
            <a:off x="8833104" y="2395728"/>
            <a:ext cx="1737360" cy="1572768"/>
          </a:xfrm>
          <a:prstGeom prst="roundRect">
            <a:avLst>
              <a:gd name="adj" fmla="val 2326"/>
            </a:avLst>
          </a:prstGeom>
          <a:solidFill>
            <a:srgbClr val="0F2A4A"/>
          </a:solidFill>
          <a:ln w="12700">
            <a:solidFill>
              <a:srgbClr val="C8A951"/>
            </a:solidFill>
            <a:prstDash val="solid"/>
          </a:ln>
        </p:spPr>
      </p:sp>
      <p:sp>
        <p:nvSpPr>
          <p:cNvPr id="24" name="Text 22"/>
          <p:cNvSpPr/>
          <p:nvPr/>
        </p:nvSpPr>
        <p:spPr>
          <a:xfrm>
            <a:off x="8979408" y="2523744"/>
            <a:ext cx="1444752" cy="274320"/>
          </a:xfrm>
          <a:prstGeom prst="rect">
            <a:avLst/>
          </a:prstGeom>
          <a:noFill/>
          <a:ln/>
        </p:spPr>
        <p:txBody>
          <a:bodyPr wrap="square" lIns="0" tIns="0" rIns="0" bIns="0" rtlCol="0" anchor="t"/>
          <a:lstStyle/>
          <a:p>
            <a:pPr algn="ctr" indent="0" marL="0">
              <a:buNone/>
            </a:pPr>
            <a:r>
              <a:rPr lang="en-US" sz="1200" b="1" dirty="0">
                <a:solidFill>
                  <a:srgbClr val="C8A951"/>
                </a:solidFill>
                <a:latin typeface="Calibri" pitchFamily="34" charset="0"/>
                <a:ea typeface="Calibri" pitchFamily="34" charset="-122"/>
                <a:cs typeface="Calibri" pitchFamily="34" charset="-120"/>
              </a:rPr>
              <a:t>Claims Package</a:t>
            </a:r>
            <a:endParaRPr lang="en-US" sz="1200" dirty="0"/>
          </a:p>
        </p:txBody>
      </p:sp>
      <p:sp>
        <p:nvSpPr>
          <p:cNvPr id="25" name="Text 23"/>
          <p:cNvSpPr/>
          <p:nvPr/>
        </p:nvSpPr>
        <p:spPr>
          <a:xfrm>
            <a:off x="8979408" y="2798064"/>
            <a:ext cx="1444752" cy="1042416"/>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hash-chained evidence on every breach</a:t>
            </a:r>
            <a:endParaRPr lang="en-US" sz="1000" dirty="0"/>
          </a:p>
        </p:txBody>
      </p:sp>
      <p:sp>
        <p:nvSpPr>
          <p:cNvPr id="26" name="Shape 24"/>
          <p:cNvSpPr/>
          <p:nvPr/>
        </p:nvSpPr>
        <p:spPr>
          <a:xfrm>
            <a:off x="3593592" y="2249424"/>
            <a:ext cx="996696" cy="0"/>
          </a:xfrm>
          <a:prstGeom prst="line">
            <a:avLst/>
          </a:prstGeom>
          <a:noFill/>
          <a:ln w="19050">
            <a:solidFill>
              <a:srgbClr val="016FD0"/>
            </a:solidFill>
            <a:prstDash val="solid"/>
            <a:tailEnd type="triangle"/>
          </a:ln>
        </p:spPr>
      </p:sp>
      <p:sp>
        <p:nvSpPr>
          <p:cNvPr id="27" name="Shape 25"/>
          <p:cNvSpPr/>
          <p:nvPr/>
        </p:nvSpPr>
        <p:spPr>
          <a:xfrm>
            <a:off x="3593592" y="3090672"/>
            <a:ext cx="996696" cy="0"/>
          </a:xfrm>
          <a:prstGeom prst="line">
            <a:avLst/>
          </a:prstGeom>
          <a:noFill/>
          <a:ln w="19050">
            <a:solidFill>
              <a:srgbClr val="016FD0"/>
            </a:solidFill>
            <a:prstDash val="solid"/>
            <a:tailEnd type="triangle"/>
          </a:ln>
        </p:spPr>
      </p:sp>
      <p:sp>
        <p:nvSpPr>
          <p:cNvPr id="28" name="Shape 26"/>
          <p:cNvSpPr/>
          <p:nvPr/>
        </p:nvSpPr>
        <p:spPr>
          <a:xfrm>
            <a:off x="3593592" y="3931920"/>
            <a:ext cx="996696" cy="0"/>
          </a:xfrm>
          <a:prstGeom prst="line">
            <a:avLst/>
          </a:prstGeom>
          <a:noFill/>
          <a:ln w="19050">
            <a:solidFill>
              <a:srgbClr val="C8A951"/>
            </a:solidFill>
            <a:prstDash val="solid"/>
            <a:headEnd type="triangle"/>
          </a:ln>
        </p:spPr>
      </p:sp>
      <p:sp>
        <p:nvSpPr>
          <p:cNvPr id="29" name="Text 27"/>
          <p:cNvSpPr/>
          <p:nvPr/>
        </p:nvSpPr>
        <p:spPr>
          <a:xfrm>
            <a:off x="3383280" y="3694176"/>
            <a:ext cx="1417320" cy="201168"/>
          </a:xfrm>
          <a:prstGeom prst="rect">
            <a:avLst/>
          </a:prstGeom>
          <a:noFill/>
          <a:ln/>
        </p:spPr>
        <p:txBody>
          <a:bodyPr wrap="square" lIns="0" tIns="0" rIns="0" bIns="0" rtlCol="0" anchor="ctr"/>
          <a:lstStyle/>
          <a:p>
            <a:pPr algn="ctr" indent="0" marL="0">
              <a:buNone/>
            </a:pPr>
            <a:r>
              <a:rPr lang="en-US" sz="800" b="1" spc="80" kern="0" dirty="0">
                <a:solidFill>
                  <a:srgbClr val="C8A951"/>
                </a:solidFill>
                <a:latin typeface="Calibri" pitchFamily="34" charset="0"/>
                <a:ea typeface="Calibri" pitchFamily="34" charset="-122"/>
                <a:cs typeface="Calibri" pitchFamily="34" charset="-120"/>
              </a:rPr>
              <a:t>POLICY DECISIONS</a:t>
            </a:r>
            <a:endParaRPr lang="en-US" sz="800" dirty="0"/>
          </a:p>
        </p:txBody>
      </p:sp>
      <p:sp>
        <p:nvSpPr>
          <p:cNvPr id="30" name="Shape 28"/>
          <p:cNvSpPr/>
          <p:nvPr/>
        </p:nvSpPr>
        <p:spPr>
          <a:xfrm>
            <a:off x="5257800" y="4443984"/>
            <a:ext cx="2377440" cy="694944"/>
          </a:xfrm>
          <a:prstGeom prst="roundRect">
            <a:avLst>
              <a:gd name="adj" fmla="val 5263"/>
            </a:avLst>
          </a:prstGeom>
          <a:solidFill>
            <a:srgbClr val="0F2A4A"/>
          </a:solidFill>
          <a:ln w="9525">
            <a:solidFill>
              <a:srgbClr val="1E4470"/>
            </a:solidFill>
            <a:prstDash val="solid"/>
          </a:ln>
        </p:spPr>
      </p:sp>
      <p:sp>
        <p:nvSpPr>
          <p:cNvPr id="31" name="Text 29"/>
          <p:cNvSpPr/>
          <p:nvPr/>
        </p:nvSpPr>
        <p:spPr>
          <a:xfrm>
            <a:off x="5404104" y="4572000"/>
            <a:ext cx="208483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Operator Dashboard</a:t>
            </a:r>
            <a:endParaRPr lang="en-US" sz="1300" dirty="0"/>
          </a:p>
        </p:txBody>
      </p:sp>
      <p:sp>
        <p:nvSpPr>
          <p:cNvPr id="32" name="Text 30"/>
          <p:cNvSpPr/>
          <p:nvPr/>
        </p:nvSpPr>
        <p:spPr>
          <a:xfrm>
            <a:off x="5404104" y="4846320"/>
            <a:ext cx="2084832" cy="164592"/>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underwriter risk console</a:t>
            </a:r>
            <a:endParaRPr lang="en-US" sz="1000" dirty="0"/>
          </a:p>
        </p:txBody>
      </p:sp>
      <p:sp>
        <p:nvSpPr>
          <p:cNvPr id="33" name="Shape 31"/>
          <p:cNvSpPr/>
          <p:nvPr/>
        </p:nvSpPr>
        <p:spPr>
          <a:xfrm>
            <a:off x="8275320" y="4443984"/>
            <a:ext cx="2377440" cy="694944"/>
          </a:xfrm>
          <a:prstGeom prst="roundRect">
            <a:avLst>
              <a:gd name="adj" fmla="val 5263"/>
            </a:avLst>
          </a:prstGeom>
          <a:solidFill>
            <a:srgbClr val="0F2A4A"/>
          </a:solidFill>
          <a:ln w="9525">
            <a:solidFill>
              <a:srgbClr val="1E4470"/>
            </a:solidFill>
            <a:prstDash val="solid"/>
          </a:ln>
        </p:spPr>
      </p:sp>
      <p:sp>
        <p:nvSpPr>
          <p:cNvPr id="34" name="Text 32"/>
          <p:cNvSpPr/>
          <p:nvPr/>
        </p:nvSpPr>
        <p:spPr>
          <a:xfrm>
            <a:off x="8421624" y="4572000"/>
            <a:ext cx="208483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Card Member Portal</a:t>
            </a:r>
            <a:endParaRPr lang="en-US" sz="1300" dirty="0"/>
          </a:p>
        </p:txBody>
      </p:sp>
      <p:sp>
        <p:nvSpPr>
          <p:cNvPr id="35" name="Text 33"/>
          <p:cNvSpPr/>
          <p:nvPr/>
        </p:nvSpPr>
        <p:spPr>
          <a:xfrm>
            <a:off x="8421624" y="4846320"/>
            <a:ext cx="2084832" cy="164592"/>
          </a:xfrm>
          <a:prstGeom prst="rect">
            <a:avLst/>
          </a:prstGeom>
          <a:noFill/>
          <a:ln/>
        </p:spPr>
        <p:txBody>
          <a:bodyPr wrap="square" lIns="0" tIns="0" rIns="0" bIns="0" rtlCol="0" anchor="ctr"/>
          <a:lstStyle/>
          <a:p>
            <a:pPr algn="ctr" indent="0" marL="0">
              <a:lnSpc>
                <a:spcPts val="1300"/>
              </a:lnSpc>
              <a:buNone/>
            </a:pPr>
            <a:r>
              <a:rPr lang="en-US" sz="1000" dirty="0">
                <a:solidFill>
                  <a:srgbClr val="7E97B5"/>
                </a:solidFill>
                <a:latin typeface="Calibri" pitchFamily="34" charset="0"/>
                <a:ea typeface="Calibri" pitchFamily="34" charset="-122"/>
                <a:cs typeface="Calibri" pitchFamily="34" charset="-120"/>
              </a:rPr>
              <a:t>spend controls, claim status</a:t>
            </a:r>
            <a:endParaRPr lang="en-US" sz="1000" dirty="0"/>
          </a:p>
        </p:txBody>
      </p:sp>
      <p:sp>
        <p:nvSpPr>
          <p:cNvPr id="36" name="Shape 34"/>
          <p:cNvSpPr/>
          <p:nvPr/>
        </p:nvSpPr>
        <p:spPr>
          <a:xfrm>
            <a:off x="6446520" y="4206240"/>
            <a:ext cx="0" cy="237744"/>
          </a:xfrm>
          <a:prstGeom prst="line">
            <a:avLst/>
          </a:prstGeom>
          <a:noFill/>
          <a:ln w="19050">
            <a:solidFill>
              <a:srgbClr val="016FD0"/>
            </a:solidFill>
            <a:prstDash val="solid"/>
            <a:tailEnd type="triangle"/>
          </a:ln>
        </p:spPr>
      </p:sp>
      <p:sp>
        <p:nvSpPr>
          <p:cNvPr id="37" name="Shape 35"/>
          <p:cNvSpPr/>
          <p:nvPr/>
        </p:nvSpPr>
        <p:spPr>
          <a:xfrm>
            <a:off x="9464040" y="4206240"/>
            <a:ext cx="0" cy="237744"/>
          </a:xfrm>
          <a:prstGeom prst="line">
            <a:avLst/>
          </a:prstGeom>
          <a:noFill/>
          <a:ln w="19050">
            <a:solidFill>
              <a:srgbClr val="016FD0"/>
            </a:solidFill>
            <a:prstDash val="solid"/>
            <a:tailEnd type="triangle"/>
          </a:ln>
        </p:spPr>
      </p:sp>
      <p:sp>
        <p:nvSpPr>
          <p:cNvPr id="38" name="Text 36"/>
          <p:cNvSpPr/>
          <p:nvPr/>
        </p:nvSpPr>
        <p:spPr>
          <a:xfrm>
            <a:off x="640080" y="5541264"/>
            <a:ext cx="10908792" cy="457200"/>
          </a:xfrm>
          <a:prstGeom prst="rect">
            <a:avLst/>
          </a:prstGeom>
          <a:noFill/>
          <a:ln/>
        </p:spPr>
        <p:txBody>
          <a:bodyPr wrap="square" lIns="0" tIns="0" rIns="0" bIns="0" rtlCol="0" anchor="ctr"/>
          <a:lstStyle/>
          <a:p>
            <a:pPr indent="0" marL="0">
              <a:lnSpc>
                <a:spcPts val="1700"/>
              </a:lnSpc>
              <a:buNone/>
            </a:pPr>
            <a:r>
              <a:rPr lang="en-US" sz="1250" b="1" dirty="0">
                <a:solidFill>
                  <a:srgbClr val="C8A951"/>
                </a:solidFill>
                <a:latin typeface="Calibri" pitchFamily="34" charset="0"/>
                <a:ea typeface="Calibri" pitchFamily="34" charset="-122"/>
                <a:cs typeface="Calibri" pitchFamily="34" charset="-120"/>
              </a:rPr>
              <a:t>How SURETY plugs into Amex's ACE kit: </a:t>
            </a:r>
            <a:pPr indent="0" marL="0">
              <a:lnSpc>
                <a:spcPts val="1700"/>
              </a:lnSpc>
              <a:buNone/>
            </a:pPr>
            <a:r>
              <a:rPr lang="en-US" sz="1250" dirty="0">
                <a:solidFill>
                  <a:srgbClr val="BFD0E4"/>
                </a:solidFill>
                <a:latin typeface="Calibri" pitchFamily="34" charset="0"/>
                <a:ea typeface="Calibri" pitchFamily="34" charset="-122"/>
                <a:cs typeface="Calibri" pitchFamily="34" charset="-120"/>
              </a:rPr>
              <a:t>Intent Intelligence and Cart Context are ingested as underwriting features; policy decisions are written back to Agent Registration - a closed governance loop.</a:t>
            </a:r>
            <a:endParaRPr lang="en-US" sz="1250" dirty="0"/>
          </a:p>
        </p:txBody>
      </p:sp>
      <p:sp>
        <p:nvSpPr>
          <p:cNvPr id="39" name="Text 37"/>
          <p:cNvSpPr/>
          <p:nvPr/>
        </p:nvSpPr>
        <p:spPr>
          <a:xfrm>
            <a:off x="640080" y="6382512"/>
            <a:ext cx="1828800" cy="256032"/>
          </a:xfrm>
          <a:prstGeom prst="rect">
            <a:avLst/>
          </a:prstGeom>
          <a:noFill/>
          <a:ln/>
        </p:spPr>
        <p:txBody>
          <a:bodyPr wrap="square" lIns="0" tIns="0" rIns="0" bIns="0" rtlCol="0" anchor="ctr"/>
          <a:lstStyle/>
          <a:p>
            <a:pPr indent="0" marL="0">
              <a:buNone/>
            </a:pPr>
            <a:r>
              <a:rPr lang="en-US" sz="900" b="1" spc="300" kern="0" dirty="0">
                <a:solidFill>
                  <a:srgbClr val="1E4470"/>
                </a:solidFill>
                <a:latin typeface="Calibri" pitchFamily="34" charset="0"/>
                <a:ea typeface="Calibri" pitchFamily="34" charset="-122"/>
                <a:cs typeface="Calibri" pitchFamily="34" charset="-120"/>
              </a:rPr>
              <a:t>SURETY</a:t>
            </a:r>
            <a:endParaRPr lang="en-US" sz="900" dirty="0"/>
          </a:p>
        </p:txBody>
      </p:sp>
      <p:sp>
        <p:nvSpPr>
          <p:cNvPr id="40" name="Text 38"/>
          <p:cNvSpPr/>
          <p:nvPr/>
        </p:nvSpPr>
        <p:spPr>
          <a:xfrm>
            <a:off x="10268712" y="6382512"/>
            <a:ext cx="1280160" cy="256032"/>
          </a:xfrm>
          <a:prstGeom prst="rect">
            <a:avLst/>
          </a:prstGeom>
          <a:noFill/>
          <a:ln/>
        </p:spPr>
        <p:txBody>
          <a:bodyPr wrap="square" lIns="0" tIns="0" rIns="0" bIns="0" rtlCol="0" anchor="ctr"/>
          <a:lstStyle/>
          <a:p>
            <a:pPr algn="r" indent="0" marL="0">
              <a:buNone/>
            </a:pPr>
            <a:r>
              <a:rPr lang="en-US" sz="900" b="1" spc="140" kern="0" dirty="0">
                <a:solidFill>
                  <a:srgbClr val="1E4470"/>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591556" y="1463040"/>
            <a:ext cx="1005840" cy="1005840"/>
          </a:xfrm>
          <a:prstGeom prst="ellipse">
            <a:avLst/>
          </a:prstGeom>
          <a:solidFill>
            <a:srgbClr val="0B1F3A">
              <a:alpha val="0"/>
            </a:srgbClr>
          </a:solidFill>
          <a:ln w="19050">
            <a:solidFill>
              <a:srgbClr val="C8A951"/>
            </a:solidFill>
            <a:prstDash val="solid"/>
          </a:ln>
        </p:spPr>
      </p:sp>
      <p:sp>
        <p:nvSpPr>
          <p:cNvPr id="3" name="Shape 1"/>
          <p:cNvSpPr/>
          <p:nvPr/>
        </p:nvSpPr>
        <p:spPr>
          <a:xfrm>
            <a:off x="5702198" y="1573682"/>
            <a:ext cx="784555" cy="784555"/>
          </a:xfrm>
          <a:prstGeom prst="ellipse">
            <a:avLst/>
          </a:prstGeom>
          <a:solidFill>
            <a:srgbClr val="0B1F3A">
              <a:alpha val="0"/>
            </a:srgbClr>
          </a:solidFill>
          <a:ln w="6350">
            <a:solidFill>
              <a:srgbClr val="C8A951"/>
            </a:solidFill>
            <a:prstDash val="solid"/>
          </a:ln>
        </p:spPr>
      </p:sp>
      <p:sp>
        <p:nvSpPr>
          <p:cNvPr id="4" name="Shape 2"/>
          <p:cNvSpPr/>
          <p:nvPr/>
        </p:nvSpPr>
        <p:spPr>
          <a:xfrm>
            <a:off x="5798364" y="1815803"/>
            <a:ext cx="45263" cy="45263"/>
          </a:xfrm>
          <a:prstGeom prst="ellipse">
            <a:avLst/>
          </a:prstGeom>
          <a:solidFill>
            <a:srgbClr val="016FD0"/>
          </a:solidFill>
          <a:ln w="12700">
            <a:solidFill>
              <a:srgbClr val="333333"/>
            </a:solidFill>
            <a:prstDash val="solid"/>
          </a:ln>
        </p:spPr>
      </p:sp>
      <p:sp>
        <p:nvSpPr>
          <p:cNvPr id="5" name="Shape 3"/>
          <p:cNvSpPr/>
          <p:nvPr/>
        </p:nvSpPr>
        <p:spPr>
          <a:xfrm>
            <a:off x="5909713" y="1688834"/>
            <a:ext cx="45263" cy="45263"/>
          </a:xfrm>
          <a:prstGeom prst="ellipse">
            <a:avLst/>
          </a:prstGeom>
          <a:solidFill>
            <a:srgbClr val="016FD0"/>
          </a:solidFill>
          <a:ln w="12700">
            <a:solidFill>
              <a:srgbClr val="333333"/>
            </a:solidFill>
            <a:prstDash val="solid"/>
          </a:ln>
        </p:spPr>
      </p:sp>
      <p:sp>
        <p:nvSpPr>
          <p:cNvPr id="6" name="Shape 4"/>
          <p:cNvSpPr/>
          <p:nvPr/>
        </p:nvSpPr>
        <p:spPr>
          <a:xfrm>
            <a:off x="6071845" y="1641577"/>
            <a:ext cx="45263" cy="45263"/>
          </a:xfrm>
          <a:prstGeom prst="ellipse">
            <a:avLst/>
          </a:prstGeom>
          <a:solidFill>
            <a:srgbClr val="016FD0"/>
          </a:solidFill>
          <a:ln w="12700">
            <a:solidFill>
              <a:srgbClr val="333333"/>
            </a:solidFill>
            <a:prstDash val="solid"/>
          </a:ln>
        </p:spPr>
      </p:sp>
      <p:sp>
        <p:nvSpPr>
          <p:cNvPr id="7" name="Shape 5"/>
          <p:cNvSpPr/>
          <p:nvPr/>
        </p:nvSpPr>
        <p:spPr>
          <a:xfrm>
            <a:off x="6233976" y="1688834"/>
            <a:ext cx="45263" cy="45263"/>
          </a:xfrm>
          <a:prstGeom prst="ellipse">
            <a:avLst/>
          </a:prstGeom>
          <a:solidFill>
            <a:srgbClr val="016FD0"/>
          </a:solidFill>
          <a:ln w="12700">
            <a:solidFill>
              <a:srgbClr val="333333"/>
            </a:solidFill>
            <a:prstDash val="solid"/>
          </a:ln>
        </p:spPr>
      </p:sp>
      <p:sp>
        <p:nvSpPr>
          <p:cNvPr id="8" name="Shape 6"/>
          <p:cNvSpPr/>
          <p:nvPr/>
        </p:nvSpPr>
        <p:spPr>
          <a:xfrm>
            <a:off x="6345325" y="1815803"/>
            <a:ext cx="45263" cy="45263"/>
          </a:xfrm>
          <a:prstGeom prst="ellipse">
            <a:avLst/>
          </a:prstGeom>
          <a:solidFill>
            <a:srgbClr val="C8A951"/>
          </a:solidFill>
          <a:ln w="12700">
            <a:solidFill>
              <a:srgbClr val="333333"/>
            </a:solidFill>
            <a:prstDash val="solid"/>
          </a:ln>
        </p:spPr>
      </p:sp>
      <p:sp>
        <p:nvSpPr>
          <p:cNvPr id="9" name="Shape 7"/>
          <p:cNvSpPr/>
          <p:nvPr/>
        </p:nvSpPr>
        <p:spPr>
          <a:xfrm flipV="1">
            <a:off x="6094476" y="1774850"/>
            <a:ext cx="191110" cy="191110"/>
          </a:xfrm>
          <a:prstGeom prst="line">
            <a:avLst/>
          </a:prstGeom>
          <a:noFill/>
          <a:ln w="22225">
            <a:solidFill>
              <a:srgbClr val="C8A951"/>
            </a:solidFill>
            <a:prstDash val="solid"/>
          </a:ln>
        </p:spPr>
      </p:sp>
      <p:sp>
        <p:nvSpPr>
          <p:cNvPr id="10" name="Shape 8"/>
          <p:cNvSpPr/>
          <p:nvPr/>
        </p:nvSpPr>
        <p:spPr>
          <a:xfrm>
            <a:off x="6054242" y="1925726"/>
            <a:ext cx="80467" cy="80467"/>
          </a:xfrm>
          <a:prstGeom prst="ellipse">
            <a:avLst/>
          </a:prstGeom>
          <a:solidFill>
            <a:srgbClr val="C8A951"/>
          </a:solidFill>
          <a:ln w="12700">
            <a:solidFill>
              <a:srgbClr val="333333"/>
            </a:solidFill>
            <a:prstDash val="solid"/>
          </a:ln>
        </p:spPr>
      </p:sp>
      <p:sp>
        <p:nvSpPr>
          <p:cNvPr id="11" name="Text 9"/>
          <p:cNvSpPr/>
          <p:nvPr/>
        </p:nvSpPr>
        <p:spPr>
          <a:xfrm>
            <a:off x="1005840" y="2880360"/>
            <a:ext cx="10177272" cy="658368"/>
          </a:xfrm>
          <a:prstGeom prst="rect">
            <a:avLst/>
          </a:prstGeom>
          <a:noFill/>
          <a:ln/>
        </p:spPr>
        <p:txBody>
          <a:bodyPr wrap="square" lIns="0" tIns="0" rIns="0" bIns="0" rtlCol="0" anchor="ctr"/>
          <a:lstStyle/>
          <a:p>
            <a:pPr algn="ctr" indent="0" marL="0">
              <a:buNone/>
            </a:pPr>
            <a:r>
              <a:rPr lang="en-US" sz="3000" dirty="0">
                <a:solidFill>
                  <a:srgbClr val="BFD0E4"/>
                </a:solidFill>
                <a:latin typeface="Cambria" pitchFamily="34" charset="0"/>
                <a:ea typeface="Cambria" pitchFamily="34" charset="-122"/>
                <a:cs typeface="Cambria" pitchFamily="34" charset="-120"/>
              </a:rPr>
              <a:t>Every other governance proposal builds a fence.</a:t>
            </a:r>
            <a:endParaRPr lang="en-US" sz="3000" dirty="0"/>
          </a:p>
        </p:txBody>
      </p:sp>
      <p:sp>
        <p:nvSpPr>
          <p:cNvPr id="12" name="Text 10"/>
          <p:cNvSpPr/>
          <p:nvPr/>
        </p:nvSpPr>
        <p:spPr>
          <a:xfrm>
            <a:off x="1005840" y="3520440"/>
            <a:ext cx="10177272" cy="713232"/>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SURETY builds the actuarial layer.</a:t>
            </a:r>
            <a:endParaRPr lang="en-US" sz="3400" dirty="0"/>
          </a:p>
        </p:txBody>
      </p:sp>
      <p:sp>
        <p:nvSpPr>
          <p:cNvPr id="13" name="Text 11"/>
          <p:cNvSpPr/>
          <p:nvPr/>
        </p:nvSpPr>
        <p:spPr>
          <a:xfrm>
            <a:off x="1463040" y="4370832"/>
            <a:ext cx="9262872" cy="365760"/>
          </a:xfrm>
          <a:prstGeom prst="rect">
            <a:avLst/>
          </a:prstGeom>
          <a:noFill/>
          <a:ln/>
        </p:spPr>
        <p:txBody>
          <a:bodyPr wrap="square" lIns="0" tIns="0" rIns="0" bIns="0" rtlCol="0" anchor="ctr"/>
          <a:lstStyle/>
          <a:p>
            <a:pPr algn="ctr" indent="0" marL="0">
              <a:buNone/>
            </a:pPr>
            <a:r>
              <a:rPr lang="en-US" sz="1400" dirty="0">
                <a:solidFill>
                  <a:srgbClr val="BFD0E4"/>
                </a:solidFill>
                <a:latin typeface="Calibri" pitchFamily="34" charset="0"/>
                <a:ea typeface="Calibri" pitchFamily="34" charset="-122"/>
                <a:cs typeface="Calibri" pitchFamily="34" charset="-120"/>
              </a:rPr>
              <a:t>It decides how high each fence must be, prices the residual risk, and files the claim when it is breached.</a:t>
            </a:r>
            <a:endParaRPr lang="en-US" sz="1400" dirty="0"/>
          </a:p>
        </p:txBody>
      </p:sp>
      <p:sp>
        <p:nvSpPr>
          <p:cNvPr id="14" name="Text 12"/>
          <p:cNvSpPr/>
          <p:nvPr/>
        </p:nvSpPr>
        <p:spPr>
          <a:xfrm>
            <a:off x="1463040" y="4791456"/>
            <a:ext cx="9262872" cy="365760"/>
          </a:xfrm>
          <a:prstGeom prst="rect">
            <a:avLst/>
          </a:prstGeom>
          <a:noFill/>
          <a:ln/>
        </p:spPr>
        <p:txBody>
          <a:bodyPr wrap="square" lIns="0" tIns="0" rIns="0" bIns="0" rtlCol="0" anchor="ctr"/>
          <a:lstStyle/>
          <a:p>
            <a:pPr algn="ctr" indent="0" marL="0">
              <a:buNone/>
            </a:pPr>
            <a:r>
              <a:rPr lang="en-US" sz="1400" b="1" dirty="0">
                <a:solidFill>
                  <a:srgbClr val="C8A951"/>
                </a:solidFill>
                <a:latin typeface="Calibri" pitchFamily="34" charset="0"/>
                <a:ea typeface="Calibri" pitchFamily="34" charset="-122"/>
                <a:cs typeface="Calibri" pitchFamily="34" charset="-120"/>
              </a:rPr>
              <a:t>The first network to underwrite autonomous transactions at scale owns the moat.</a:t>
            </a:r>
            <a:endParaRPr lang="en-US" sz="1400" dirty="0"/>
          </a:p>
        </p:txBody>
      </p:sp>
      <p:sp>
        <p:nvSpPr>
          <p:cNvPr id="15" name="Text 13"/>
          <p:cNvSpPr/>
          <p:nvPr/>
        </p:nvSpPr>
        <p:spPr>
          <a:xfrm>
            <a:off x="1280160" y="5266944"/>
            <a:ext cx="9628632" cy="365760"/>
          </a:xfrm>
          <a:prstGeom prst="rect">
            <a:avLst/>
          </a:prstGeom>
          <a:noFill/>
          <a:ln/>
        </p:spPr>
        <p:txBody>
          <a:bodyPr wrap="square" lIns="0" tIns="0" rIns="0" bIns="0" rtlCol="0" anchor="ctr"/>
          <a:lstStyle/>
          <a:p>
            <a:pPr algn="ctr" indent="0" marL="0">
              <a:buNone/>
            </a:pPr>
            <a:r>
              <a:rPr lang="en-US" sz="1400" dirty="0">
                <a:solidFill>
                  <a:srgbClr val="BFD0E4"/>
                </a:solidFill>
                <a:latin typeface="Calibri" pitchFamily="34" charset="0"/>
                <a:ea typeface="Calibri" pitchFamily="34" charset="-122"/>
                <a:cs typeface="Calibri" pitchFamily="34" charset="-120"/>
              </a:rPr>
              <a:t>SURETY is the credit score for autonomous agents: a universal trust metric for the agentic economy.</a:t>
            </a:r>
            <a:endParaRPr lang="en-US" sz="1400" dirty="0"/>
          </a:p>
        </p:txBody>
      </p:sp>
      <p:sp>
        <p:nvSpPr>
          <p:cNvPr id="16" name="Text 14"/>
          <p:cNvSpPr/>
          <p:nvPr/>
        </p:nvSpPr>
        <p:spPr>
          <a:xfrm>
            <a:off x="0" y="5998464"/>
            <a:ext cx="12188952" cy="310896"/>
          </a:xfrm>
          <a:prstGeom prst="rect">
            <a:avLst/>
          </a:prstGeom>
          <a:noFill/>
          <a:ln/>
        </p:spPr>
        <p:txBody>
          <a:bodyPr wrap="square" lIns="0" tIns="0" rIns="0" bIns="0" rtlCol="0" anchor="ctr"/>
          <a:lstStyle/>
          <a:p>
            <a:pPr algn="ctr" indent="0" marL="0">
              <a:buNone/>
            </a:pPr>
            <a:r>
              <a:rPr lang="en-US" sz="1200" spc="220" kern="0" dirty="0">
                <a:solidFill>
                  <a:srgbClr val="7E97B5"/>
                </a:solidFill>
                <a:latin typeface="Calibri" pitchFamily="34" charset="0"/>
                <a:ea typeface="Calibri" pitchFamily="34" charset="-122"/>
                <a:cs typeface="Calibri" pitchFamily="34" charset="-120"/>
              </a:rPr>
              <a:t>Team SURETY   ·   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Team SURETY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SURETY - Agent Risk Underwriting for Amex Agentic Commerce</dc:title>
  <dc:subject>CodeStreet 2026 - Governance Layer for Financial Agents</dc:subject>
  <dc:creator>Team SURETY</dc:creator>
  <cp:lastModifiedBy>Team SURETY</cp:lastModifiedBy>
  <cp:revision>1</cp:revision>
  <dcterms:created xsi:type="dcterms:W3CDTF">2026-07-25T22:29:14Z</dcterms:created>
  <dcterms:modified xsi:type="dcterms:W3CDTF">2026-07-25T22:29:14Z</dcterms:modified>
</cp:coreProperties>
</file>